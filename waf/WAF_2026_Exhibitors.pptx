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84b3ba0-749c-7239-896b-d61e59665017}">
          <p14:sldIdLst>
            <p14:sldId id="256"/>
            <p14:sldId id="257"/>
          </p14:sldIdLst>
        </p14:section>
        <p14:section name="Exhibitors by business type" id="{611b3d33-aa08-c049-3d34-5acb31e45bfd}">
          <p14:sldIdLst>
            <p14:sldId id="258"/>
            <p14:sldId id="259"/>
            <p14:sldId id="260"/>
            <p14:sldId id="261"/>
            <p14:sldId id="262"/>
            <p14:sldId id="263"/>
            <p14:sldId id="264"/>
            <p14:sldId id="265"/>
            <p14:sldId id="266"/>
            <p14:sldId id="267"/>
          </p14:sldIdLst>
        </p14:section>
        <p14:section name="Startups" id="{ab20912c-b6ea-87da-da10-d714e0a37635}">
          <p14:sldIdLst>
            <p14:sldId id="268"/>
            <p14:sldId id="269"/>
          </p14:sldIdLst>
        </p14:section>
        <p14:section name="What we heard" id="{ceb962c9-e9b3-ed6b-be50-905a658ff6bd}">
          <p14:sldIdLst>
            <p14:sldId id="270"/>
            <p14:sldId id="271"/>
            <p14:sldId id="272"/>
            <p14:sldId id="273"/>
          </p14:sldIdLst>
        </p14:section>
        <p14:section name="Patterns" id="{8a514b26-3ce4-fdb7-f991-4499cabc79e3}">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Exhibitors</c:v>
                </c:pt>
              </c:strCache>
            </c:strRef>
          </c:tx>
          <c:spPr>
            <a:solidFill>
              <a:srgbClr val="2E6DA8"/>
            </a:solidFill>
            <a:effectLst/>
          </c:spPr>
          <c:invertIfNegative val="0"/>
          <c:dLbls>
            <c:numFmt formatCode="#,##0" sourceLinked="0"/>
            <c:txPr>
              <a:bodyPr/>
              <a:lstStyle/>
              <a:p>
                <a:pPr>
                  <a:defRPr b="1" i="0" strike="noStrike" sz="1200" u="none">
                    <a:solidFill>
                      <a:srgbClr val="13233D"/>
                    </a:solidFill>
                    <a:latin typeface="+mn-lt"/>
                  </a:defRPr>
                </a:pPr>
              </a:p>
            </c:txPr>
            <c:showLegendKey val="0"/>
            <c:showVal val="1"/>
            <c:showCatName val="0"/>
            <c:showSerName val="0"/>
            <c:showPercent val="0"/>
            <c:showBubbleSize val="0"/>
            <c:showLeaderLines val="0"/>
          </c:dLbls>
          <c:cat>
            <c:multiLvlStrRef>
              <c:f>Sheet1!$A$2:$A$15</c:f>
              <c:multiLvlStrCache>
                <c:ptCount val="14"/>
                <c:lvl>
                  <c:pt idx="0">
                    <c:v>Retailing, PSS and distribution</c:v>
                  </c:pt>
                  <c:pt idx="1">
                    <c:v>Pricing, revenue and commercial AI</c:v>
                  </c:pt>
                  <c:pt idx="2">
                    <c:v>Ancillaries, upgrades and partner products</c:v>
                  </c:pt>
                  <c:pt idx="3">
                    <c:v>Loyalty, customer data and marketing</c:v>
                  </c:pt>
                  <c:pt idx="4">
                    <c:v>Payments, fintech and fraud</c:v>
                  </c:pt>
                  <c:pt idx="5">
                    <c:v>AI customer service and passenger apps</c:v>
                  </c:pt>
                  <c:pt idx="6">
                    <c:v>Disruption and passenger care (IROPS)</c:v>
                  </c:pt>
                  <c:pt idx="7">
                    <c:v>Flight ops, crew and maintenance</c:v>
                  </c:pt>
                  <c:pt idx="8">
                    <c:v>Airport, ground ops and baggage</c:v>
                  </c:pt>
                  <c:pt idx="9">
                    <c:v>Onboard: IFEC, connectivity and retail</c:v>
                  </c:pt>
                  <c:pt idx="10">
                    <c:v>Data, analytics and AI platforms</c:v>
                  </c:pt>
                  <c:pt idx="11">
                    <c:v>Cyber security and brand protection</c:v>
                  </c:pt>
                  <c:pt idx="12">
                    <c:v>Consultancies, IT services and big tech</c:v>
                  </c:pt>
                  <c:pt idx="13">
                    <c:v>Ecosystem: airlines, OEMs, bodies, investors, media</c:v>
                  </c:pt>
                </c:lvl>
              </c:multiLvlStrCache>
            </c:multiLvlStrRef>
          </c:cat>
          <c:val>
            <c:numRef>
              <c:f>Sheet1!$B$2:$B$15</c:f>
              <c:numCache>
                <c:formatCode>General</c:formatCode>
                <c:ptCount val="14"/>
                <c:pt idx="0">
                  <c:v>29</c:v>
                </c:pt>
                <c:pt idx="1">
                  <c:v>27</c:v>
                </c:pt>
                <c:pt idx="2">
                  <c:v>33</c:v>
                </c:pt>
                <c:pt idx="3">
                  <c:v>18</c:v>
                </c:pt>
                <c:pt idx="4">
                  <c:v>22</c:v>
                </c:pt>
                <c:pt idx="5">
                  <c:v>36</c:v>
                </c:pt>
                <c:pt idx="6">
                  <c:v>17</c:v>
                </c:pt>
                <c:pt idx="7">
                  <c:v>39</c:v>
                </c:pt>
                <c:pt idx="8">
                  <c:v>38</c:v>
                </c:pt>
                <c:pt idx="9">
                  <c:v>19</c:v>
                </c:pt>
                <c:pt idx="10">
                  <c:v>23</c:v>
                </c:pt>
                <c:pt idx="11">
                  <c:v>7</c:v>
                </c:pt>
                <c:pt idx="12">
                  <c:v>35</c:v>
                </c:pt>
                <c:pt idx="13">
                  <c:v>33</c:v>
                </c:pt>
              </c:numCache>
            </c:numRef>
          </c:val>
        </c:ser>
        <c:dLbls>
          <c:numFmt formatCode="#,##0" sourceLinked="0"/>
          <c:txPr>
            <a:bodyPr/>
            <a:lstStyle/>
            <a:p>
              <a:pPr>
                <a:defRPr b="1" i="0" strike="noStrike" sz="1200" u="none">
                  <a:solidFill>
                    <a:srgbClr val="1323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3233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WAF 2026 exhibitor list (376 companies, with booth and description), the WAF agenda for Days 1–3, and notes taken in the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Exhibitor numbers come from the exhibitor list: 376 companies after merging duplicate listings. Agenda numbers come from the Days 1–3 agenda; they include individual roundtable tables and workshops. Speakers: about 536 unique names on the agenda, including session hosts. Startups: exhibitors that presented in the Startup Theatre, pitched in the Startup Competition or Ancillary Arena, or sat on an innovation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exhibitor is in exactly one group, chosen by its main product. The event’s own categories (Customer Experience, Data Analytics and so on) were too broad to use as they are, so the groups follow what each company sells. 66 exhibitors had little public information; they are placed by their event category or by what they presented on stage, and should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Retailing: the shift to Offer and Order shows in the vendor mix: legacy PSS players and newer retailing engines side by side. Vividata (distribution) had no public description and is counted in this group. Pricing: almost every RM vendor now sells an AI or agentic layer on top of its pricing engine. Volantio was named by investors as the kind of company airlines want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Ancillaries is one of the largest groups. Insurance, eSIM and car hire are now standard add-ons, and the newer players are marketplaces that bundle many providers into one offer. Three exhibitors had no public description and are counted here: ICX Systems, pAiback and Groupz. Loyalty: the focus is on everyday earn and burn and on spending idle miles (KYFO, Arcube).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 is a crowded field. The pitch has moved from “accept more payment methods” to orchestration: routing each payment to the best acquirer, raising approval rates and reconciling under Offer and Order. The Adyen, Microsoft and amicis shared stand appears as three entries in the exhibitor list, and all three are counted in this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exhibitors in this group had no public description and are placed by their event category (Customer Experience or IT): Providio AI, MagiPort.com, APPS Now, Jinko, DestinoTour and Continuum Commerce Solutions. Worth checking with them directly. Investors called the AI rebooking agent the most hyped product at the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agenda, IROPS had its own track on Days 1 and 2, with panels from BA, United, Icelandair, Aeromexico, Qatar and American. Their message: treat disruption as a chance to win loyalty, using self-service plus fast payouts.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largest group by count. Fuel and emissions tools (i6, aFuel, Waltr, 4JET, AVTECH) sit here because they are bought by flight ops, not by sustainability teams. On the agenda, ops AI came up in the Digital Operations and Crew Summit tracks on Day 1, with Ryanair, Etihad, BA and Finnair.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on the apron is now a crowded category, with at least five vendors. Baggage is moving off the airport (Alltheway) and into robotics (Azalea). Gate Stream and Stand-By both pitched faster boarding in the Startup Theatre.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 connectivity is now seen as a retail channel, which was the IFEC track’s main theme on Day 1. Data: the classic data providers (Cirium, OAG) now present themselves as intelligence partners. Nine exhibitors listed under Data Analytics had no public description, so check them before spending time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 partners: AeroTime, Airport Suppliers, Aviação TV, AviTrader, Cities Today, Inflight, LARA magazine, MyAviation Magazine, Onboard Hospitality, RotorHub, Regional Gateway, Travel And Tour World and The Flying High Club. Prologis is listed under the name of the logistics real-estate firm, with no event description; check that it really is that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47 were counted: exhibitors that presented in the Startup Theatre (all three days), pitched in the Startup Competition or the Ancillary Arena, or spoke on a founder or innovation panel such as “The New Aviation Stack” or “Built From Scratch”. Some other exhibitors are young companies too (for example Arcube, a Manchester startup); they are not in this count because they did not appear on a startup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finalists and panels come from the agenda. The winners were not in the material we have, so add them here if you know them. The Startup Competition judges were Cara Whitehill (Thayer), Dee Waddell (IBM), Massimo Morin (AWS), David Peller (If Not You Capital), Wale Adepoju (Quvia, Impetus Capital) and Irra Ariella Khi (Zamna).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slides are based on notes taken in the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session notes: Marabu works with two IT people, and the rest of the work is done by the business itself. The talk focused on the online check-in project. In total they launched three projects in six months. Their advice was to work with smaller partners, who give an airline of Marabu’s size more attention and a good price. This links to the startup slides: many of the 47 stage startups are exactly those smaller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topics heads of data and AI at leading airlines kept returning to, from the session notes. Related agenda sessions: “Creating safe and effective foundations for AI transformation” (Day 2, with IAG, Emirates and United), “Sharing insights into embedding agentic AI” (Day 2, with easyJet, Etihad and Saudia) and the Data Leaders Panel (Day 2). Matching exhibitors include ThoughtSpot (agentic analytics), T/Form x Ink (AI assistant also available over MCP) and Spur (AI agents that test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session notes. The figures are shown as noted and were not checked against a published source; check them before you share the deck widely, especially the 7% of 360 travel entities. The Day 3 Investor Panel had SKY VC, Thayer Investment Partners, Plug and Play and Amadeus Ventures. Exhibitors that build the “most hyped” rebooking agent include Zingly, Humoniq, Openair, Stormy and ONEJRNY.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together the exhibitor grouping and the session notes. Possible next steps: shortlist exhibitors by priority in the exhibitor spreadsheet, and follow up first with the startups and vendors that match these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World Aviation Festival 2026 · Exhibitor review</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World Aviation Festival 2026 · Exhibitor review</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1"/>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WORLD AVIATION FESTIVAL 2026 · LISBON · 13–15 OCTOBER</a:t>
            </a:r>
            <a:endParaRPr lang="en-US" sz="1100" dirty="0"/>
          </a:p>
        </p:txBody>
      </p:sp>
      <p:sp>
        <p:nvSpPr>
          <p:cNvPr id="3" name="Text 0"/>
          <p:cNvSpPr/>
          <p:nvPr>
            <p:ph idx="100" type="title" hasCustomPrompt="1"/>
          </p:nvPr>
        </p:nvSpPr>
        <p:spPr>
          <a:xfrm>
            <a:off x="548640" y="2011680"/>
            <a:ext cx="11094415" cy="173736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Who exhibited, and what we heard</a:t>
            </a:r>
            <a:endParaRPr lang="en-US" sz="4800" dirty="0"/>
          </a:p>
        </p:txBody>
      </p:sp>
      <p:sp>
        <p:nvSpPr>
          <p:cNvPr id="4" name="cover-sub"/>
          <p:cNvSpPr txBox="1"/>
          <p:nvPr/>
        </p:nvSpPr>
        <p:spPr>
          <a:xfrm>
            <a:off x="548640" y="3840480"/>
            <a:ext cx="9601200" cy="914400"/>
          </a:xfrm>
          <a:prstGeom prst="rect">
            <a:avLst/>
          </a:prstGeom>
          <a:noFill/>
          <a:ln/>
        </p:spPr>
        <p:txBody>
          <a:bodyPr wrap="square" lIns="0" tIns="0" rIns="0" bIns="0" rtlCol="0" anchor="ctr"/>
          <a:lstStyle/>
          <a:p>
            <a:pPr indent="0" marL="0">
              <a:buNone/>
            </a:pPr>
            <a:r>
              <a:rPr lang="en-US" sz="2000" dirty="0">
                <a:solidFill>
                  <a:schemeClr val="accent6"/>
                </a:solidFill>
              </a:rPr>
              <a:t>376 exhibitors grouped by business type and product, the startups on stage, and takeaways from the sessions</a:t>
            </a:r>
            <a:endParaRPr lang="en-US" sz="2000" dirty="0"/>
          </a:p>
        </p:txBody>
      </p:sp>
      <p:sp>
        <p:nvSpPr>
          <p:cNvPr id="5" name="cover-date"/>
          <p:cNvSpPr txBox="1"/>
          <p:nvPr/>
        </p:nvSpPr>
        <p:spPr>
          <a:xfrm>
            <a:off x="548640" y="603504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Exhibitor review · October 2026</a:t>
            </a:r>
            <a:endParaRPr lang="en-US" sz="1200" dirty="0"/>
          </a:p>
        </p:txBody>
      </p:sp>
      <p:sp>
        <p:nvSpPr>
          <p:cNvPr id="6" name="cover-mark"/>
          <p:cNvSpPr/>
          <p:nvPr/>
        </p:nvSpPr>
        <p:spPr>
          <a:xfrm>
            <a:off x="548640" y="3657600"/>
            <a:ext cx="1097280" cy="54864"/>
          </a:xfrm>
          <a:prstGeom prst="rect">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Three days, two pavilions, one industry in one place</a:t>
            </a:r>
            <a:endParaRPr lang="en-US" sz="3000" dirty="0"/>
          </a:p>
        </p:txBody>
      </p:sp>
      <p:sp>
        <p:nvSpPr>
          <p:cNvPr id="3" name="eyebrow-2"/>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AT A GLANCE</a:t>
            </a:r>
            <a:endParaRPr lang="en-US" sz="1100" dirty="0"/>
          </a:p>
        </p:txBody>
      </p:sp>
      <p:sp>
        <p:nvSpPr>
          <p:cNvPr id="5" name="card-3"/>
          <p:cNvSpPr/>
          <p:nvPr/>
        </p:nvSpPr>
        <p:spPr>
          <a:xfrm>
            <a:off x="548640" y="1600200"/>
            <a:ext cx="2567864" cy="1600200"/>
          </a:xfrm>
          <a:prstGeom prst="roundRect">
            <a:avLst>
              <a:gd name="adj" fmla="val 6857"/>
            </a:avLst>
          </a:prstGeom>
          <a:solidFill>
            <a:schemeClr val="bg2"/>
          </a:solidFill>
          <a:ln w="12700">
            <a:solidFill>
              <a:schemeClr val="bg2"/>
            </a:solidFill>
            <a:prstDash val="solid"/>
          </a:ln>
        </p:spPr>
      </p:sp>
      <p:sp>
        <p:nvSpPr>
          <p:cNvPr id="6" name="statnum-4"/>
          <p:cNvSpPr txBox="1"/>
          <p:nvPr/>
        </p:nvSpPr>
        <p:spPr>
          <a:xfrm>
            <a:off x="777240" y="1783080"/>
            <a:ext cx="2110664"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376</a:t>
            </a:r>
            <a:endParaRPr lang="en-US" sz="4400" dirty="0"/>
          </a:p>
        </p:txBody>
      </p:sp>
      <p:sp>
        <p:nvSpPr>
          <p:cNvPr id="7" name="statlabel-5"/>
          <p:cNvSpPr txBox="1"/>
          <p:nvPr/>
        </p:nvSpPr>
        <p:spPr>
          <a:xfrm>
            <a:off x="777240" y="2560320"/>
            <a:ext cx="2110664" cy="502920"/>
          </a:xfrm>
          <a:prstGeom prst="rect">
            <a:avLst/>
          </a:prstGeom>
          <a:noFill/>
          <a:ln/>
        </p:spPr>
        <p:txBody>
          <a:bodyPr wrap="square" lIns="0" tIns="0" rIns="0" bIns="0" rtlCol="0" anchor="t"/>
          <a:lstStyle/>
          <a:p>
            <a:pPr indent="0" marL="0">
              <a:buNone/>
            </a:pPr>
            <a:r>
              <a:rPr lang="en-US" sz="1400" dirty="0">
                <a:solidFill>
                  <a:schemeClr val="tx2"/>
                </a:solidFill>
              </a:rPr>
              <a:t>exhibitors, sponsors and partners</a:t>
            </a:r>
            <a:endParaRPr lang="en-US" sz="1400" dirty="0"/>
          </a:p>
        </p:txBody>
      </p:sp>
      <p:sp>
        <p:nvSpPr>
          <p:cNvPr id="8" name="card-6"/>
          <p:cNvSpPr/>
          <p:nvPr/>
        </p:nvSpPr>
        <p:spPr>
          <a:xfrm>
            <a:off x="3390824" y="1600200"/>
            <a:ext cx="2567864" cy="1600200"/>
          </a:xfrm>
          <a:prstGeom prst="roundRect">
            <a:avLst>
              <a:gd name="adj" fmla="val 6857"/>
            </a:avLst>
          </a:prstGeom>
          <a:solidFill>
            <a:schemeClr val="bg2"/>
          </a:solidFill>
          <a:ln w="12700">
            <a:solidFill>
              <a:schemeClr val="bg2"/>
            </a:solidFill>
            <a:prstDash val="solid"/>
          </a:ln>
        </p:spPr>
      </p:sp>
      <p:sp>
        <p:nvSpPr>
          <p:cNvPr id="9" name="statnum-7"/>
          <p:cNvSpPr txBox="1"/>
          <p:nvPr/>
        </p:nvSpPr>
        <p:spPr>
          <a:xfrm>
            <a:off x="3619424" y="1783080"/>
            <a:ext cx="2110664"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308</a:t>
            </a:r>
            <a:endParaRPr lang="en-US" sz="4400" dirty="0"/>
          </a:p>
        </p:txBody>
      </p:sp>
      <p:sp>
        <p:nvSpPr>
          <p:cNvPr id="10" name="statlabel-8"/>
          <p:cNvSpPr txBox="1"/>
          <p:nvPr/>
        </p:nvSpPr>
        <p:spPr>
          <a:xfrm>
            <a:off x="3619424" y="2560320"/>
            <a:ext cx="2110664" cy="502920"/>
          </a:xfrm>
          <a:prstGeom prst="rect">
            <a:avLst/>
          </a:prstGeom>
          <a:noFill/>
          <a:ln/>
        </p:spPr>
        <p:txBody>
          <a:bodyPr wrap="square" lIns="0" tIns="0" rIns="0" bIns="0" rtlCol="0" anchor="t"/>
          <a:lstStyle/>
          <a:p>
            <a:pPr indent="0" marL="0">
              <a:buNone/>
            </a:pPr>
            <a:r>
              <a:rPr lang="en-US" sz="1400" dirty="0">
                <a:solidFill>
                  <a:schemeClr val="tx2"/>
                </a:solidFill>
              </a:rPr>
              <a:t>sessions, roundtables and workshops</a:t>
            </a:r>
            <a:endParaRPr lang="en-US" sz="1400" dirty="0"/>
          </a:p>
        </p:txBody>
      </p:sp>
      <p:sp>
        <p:nvSpPr>
          <p:cNvPr id="11" name="card-9"/>
          <p:cNvSpPr/>
          <p:nvPr/>
        </p:nvSpPr>
        <p:spPr>
          <a:xfrm>
            <a:off x="6233008" y="1600200"/>
            <a:ext cx="2567864" cy="1600200"/>
          </a:xfrm>
          <a:prstGeom prst="roundRect">
            <a:avLst>
              <a:gd name="adj" fmla="val 6857"/>
            </a:avLst>
          </a:prstGeom>
          <a:solidFill>
            <a:schemeClr val="bg2"/>
          </a:solidFill>
          <a:ln w="12700">
            <a:solidFill>
              <a:schemeClr val="bg2"/>
            </a:solidFill>
            <a:prstDash val="solid"/>
          </a:ln>
        </p:spPr>
      </p:sp>
      <p:sp>
        <p:nvSpPr>
          <p:cNvPr id="12" name="statnum-10"/>
          <p:cNvSpPr txBox="1"/>
          <p:nvPr/>
        </p:nvSpPr>
        <p:spPr>
          <a:xfrm>
            <a:off x="6461608" y="1783080"/>
            <a:ext cx="2110664"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530+</a:t>
            </a:r>
            <a:endParaRPr lang="en-US" sz="4400" dirty="0"/>
          </a:p>
        </p:txBody>
      </p:sp>
      <p:sp>
        <p:nvSpPr>
          <p:cNvPr id="13" name="statlabel-11"/>
          <p:cNvSpPr txBox="1"/>
          <p:nvPr/>
        </p:nvSpPr>
        <p:spPr>
          <a:xfrm>
            <a:off x="6461608" y="2560320"/>
            <a:ext cx="2110664" cy="502920"/>
          </a:xfrm>
          <a:prstGeom prst="rect">
            <a:avLst/>
          </a:prstGeom>
          <a:noFill/>
          <a:ln/>
        </p:spPr>
        <p:txBody>
          <a:bodyPr wrap="square" lIns="0" tIns="0" rIns="0" bIns="0" rtlCol="0" anchor="t"/>
          <a:lstStyle/>
          <a:p>
            <a:pPr indent="0" marL="0">
              <a:buNone/>
            </a:pPr>
            <a:r>
              <a:rPr lang="en-US" sz="1400" dirty="0">
                <a:solidFill>
                  <a:schemeClr val="tx2"/>
                </a:solidFill>
              </a:rPr>
              <a:t>speakers and hosts on the agenda</a:t>
            </a:r>
            <a:endParaRPr lang="en-US" sz="1400" dirty="0"/>
          </a:p>
        </p:txBody>
      </p:sp>
      <p:sp>
        <p:nvSpPr>
          <p:cNvPr id="14" name="card-12"/>
          <p:cNvSpPr/>
          <p:nvPr/>
        </p:nvSpPr>
        <p:spPr>
          <a:xfrm>
            <a:off x="9075191" y="1600200"/>
            <a:ext cx="2567864" cy="1600200"/>
          </a:xfrm>
          <a:prstGeom prst="roundRect">
            <a:avLst>
              <a:gd name="adj" fmla="val 6857"/>
            </a:avLst>
          </a:prstGeom>
          <a:solidFill>
            <a:schemeClr val="bg2"/>
          </a:solidFill>
          <a:ln w="12700">
            <a:solidFill>
              <a:schemeClr val="bg2"/>
            </a:solidFill>
            <a:prstDash val="solid"/>
          </a:ln>
        </p:spPr>
      </p:sp>
      <p:sp>
        <p:nvSpPr>
          <p:cNvPr id="15" name="statnum-13"/>
          <p:cNvSpPr txBox="1"/>
          <p:nvPr/>
        </p:nvSpPr>
        <p:spPr>
          <a:xfrm>
            <a:off x="9303791" y="1783080"/>
            <a:ext cx="2110664"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47</a:t>
            </a:r>
            <a:endParaRPr lang="en-US" sz="4400" dirty="0"/>
          </a:p>
        </p:txBody>
      </p:sp>
      <p:sp>
        <p:nvSpPr>
          <p:cNvPr id="16" name="statlabel-14"/>
          <p:cNvSpPr txBox="1"/>
          <p:nvPr/>
        </p:nvSpPr>
        <p:spPr>
          <a:xfrm>
            <a:off x="9303791" y="2560320"/>
            <a:ext cx="2110664" cy="502920"/>
          </a:xfrm>
          <a:prstGeom prst="rect">
            <a:avLst/>
          </a:prstGeom>
          <a:noFill/>
          <a:ln/>
        </p:spPr>
        <p:txBody>
          <a:bodyPr wrap="square" lIns="0" tIns="0" rIns="0" bIns="0" rtlCol="0" anchor="t"/>
          <a:lstStyle/>
          <a:p>
            <a:pPr indent="0" marL="0">
              <a:buNone/>
            </a:pPr>
            <a:r>
              <a:rPr lang="en-US" sz="1400" dirty="0">
                <a:solidFill>
                  <a:schemeClr val="tx2"/>
                </a:solidFill>
              </a:rPr>
              <a:t>exhibiting startups that also took a stage</a:t>
            </a:r>
            <a:endParaRPr lang="en-US" sz="1400" dirty="0"/>
          </a:p>
        </p:txBody>
      </p:sp>
      <p:sp>
        <p:nvSpPr>
          <p:cNvPr id="17" name="t1-head"/>
          <p:cNvSpPr txBox="1"/>
          <p:nvPr/>
        </p:nvSpPr>
        <p:spPr>
          <a:xfrm>
            <a:off x="548640" y="3520440"/>
            <a:ext cx="5318608"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Where exhibitors were</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5318608" cy="914400"/>
        </p:xfrm>
        <a:graphic>
          <a:graphicData uri="http://schemas.openxmlformats.org/drawingml/2006/table">
            <a:tbl>
              <a:tblPr/>
              <a:tblGrid>
                <a:gridCol w="3829397"/>
                <a:gridCol w="1489210"/>
              </a:tblGrid>
              <a:tr h="329184">
                <a:tc>
                  <a:txBody>
                    <a:bodyPr/>
                    <a:lstStyle/>
                    <a:p>
                      <a:pPr algn="l" indent="0" marL="0">
                        <a:buNone/>
                      </a:pPr>
                      <a:r>
                        <a:rPr lang="en-US" sz="1300" b="1" dirty="0">
                          <a:solidFill>
                            <a:schemeClr val="tx1"/>
                          </a:solidFill>
                        </a:rPr>
                        <a:t>Location</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rPr>
                        <a:t>Exhibitors</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chemeClr val="bg2"/>
                    </a:solidFill>
                  </a:tcPr>
                </a:tc>
              </a:tr>
              <a:tr h="329184">
                <a:tc>
                  <a:txBody>
                    <a:bodyPr/>
                    <a:lstStyle/>
                    <a:p>
                      <a:pPr algn="l" indent="0" marL="0">
                        <a:buNone/>
                      </a:pPr>
                      <a:r>
                        <a:rPr lang="en-US" sz="1300" dirty="0">
                          <a:solidFill>
                            <a:schemeClr val="tx1"/>
                          </a:solidFill>
                        </a:rPr>
                        <a:t>Pavilion 1</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160</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algn="l" indent="0" marL="0">
                        <a:buNone/>
                      </a:pPr>
                      <a:r>
                        <a:rPr lang="en-US" sz="1300" dirty="0">
                          <a:solidFill>
                            <a:schemeClr val="tx1"/>
                          </a:solidFill>
                        </a:rPr>
                        <a:t>Pavilion 2</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85</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algn="l" indent="0" marL="0">
                        <a:buNone/>
                      </a:pPr>
                      <a:r>
                        <a:rPr lang="en-US" sz="1300" dirty="0">
                          <a:solidFill>
                            <a:schemeClr val="tx1"/>
                          </a:solidFill>
                        </a:rPr>
                        <a:t>Meeting rooms and Start-up Village</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9</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algn="l" indent="0" marL="0">
                        <a:buNone/>
                      </a:pPr>
                      <a:r>
                        <a:rPr lang="en-US" sz="1300" dirty="0">
                          <a:solidFill>
                            <a:schemeClr val="tx1"/>
                          </a:solidFill>
                        </a:rPr>
                        <a:t>No booth listed (partners, media, speakers)</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122</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19" name="t2-head"/>
          <p:cNvSpPr txBox="1"/>
          <p:nvPr/>
        </p:nvSpPr>
        <p:spPr>
          <a:xfrm>
            <a:off x="6324448" y="3520440"/>
            <a:ext cx="5318608"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What was on the agenda</a:t>
            </a:r>
            <a:endParaRPr lang="en-US" sz="16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24448" y="3931920"/>
          <a:ext cx="5318608" cy="914400"/>
        </p:xfrm>
        <a:graphic>
          <a:graphicData uri="http://schemas.openxmlformats.org/drawingml/2006/table">
            <a:tbl>
              <a:tblPr/>
              <a:tblGrid>
                <a:gridCol w="3829397"/>
                <a:gridCol w="1489210"/>
              </a:tblGrid>
              <a:tr h="329184">
                <a:tc>
                  <a:txBody>
                    <a:bodyPr/>
                    <a:lstStyle/>
                    <a:p>
                      <a:pPr algn="l" indent="0" marL="0">
                        <a:buNone/>
                      </a:pPr>
                      <a:r>
                        <a:rPr lang="en-US" sz="1300" b="1" dirty="0">
                          <a:solidFill>
                            <a:schemeClr val="tx1"/>
                          </a:solidFill>
                        </a:rPr>
                        <a:t>Day</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rPr>
                        <a:t>Agenda items</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chemeClr val="bg2"/>
                    </a:solidFill>
                  </a:tcPr>
                </a:tc>
              </a:tr>
              <a:tr h="329184">
                <a:tc>
                  <a:txBody>
                    <a:bodyPr/>
                    <a:lstStyle/>
                    <a:p>
                      <a:pPr algn="l" indent="0" marL="0">
                        <a:buNone/>
                      </a:pPr>
                      <a:r>
                        <a:rPr lang="en-US" sz="1300" dirty="0">
                          <a:solidFill>
                            <a:schemeClr val="tx1"/>
                          </a:solidFill>
                        </a:rPr>
                        <a:t>Day 1 · 13 Oct</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115</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algn="l" indent="0" marL="0">
                        <a:buNone/>
                      </a:pPr>
                      <a:r>
                        <a:rPr lang="en-US" sz="1300" dirty="0">
                          <a:solidFill>
                            <a:schemeClr val="tx1"/>
                          </a:solidFill>
                        </a:rPr>
                        <a:t>Day 2 · 14 Oct</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138</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algn="l" indent="0" marL="0">
                        <a:buNone/>
                      </a:pPr>
                      <a:r>
                        <a:rPr lang="en-US" sz="1300" dirty="0">
                          <a:solidFill>
                            <a:schemeClr val="tx1"/>
                          </a:solidFill>
                        </a:rPr>
                        <a:t>Day 3 · 15 Oct</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55</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algn="l" indent="0" marL="0">
                        <a:buNone/>
                      </a:pPr>
                      <a:r>
                        <a:rPr lang="en-US" sz="1300" dirty="0">
                          <a:solidFill>
                            <a:schemeClr val="tx1"/>
                          </a:solidFill>
                        </a:rPr>
                        <a:t>Streams incl. Retail, AI/ML, IROPS, Payments</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r" indent="0" marL="0">
                        <a:buNone/>
                      </a:pPr>
                      <a:r>
                        <a:rPr lang="en-US" sz="1300" dirty="0">
                          <a:solidFill>
                            <a:schemeClr val="tx1"/>
                          </a:solidFill>
                        </a:rPr>
                        <a:t>30+</a:t>
                      </a:r>
                      <a:endParaRPr lang="en-US" sz="1300" dirty="0"/>
                    </a:p>
                  </a:txBody>
                  <a:tcPr marL="54864" marR="54864" marT="54864" marB="54864">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14 groups, from booking to boarding to the back office</a:t>
            </a:r>
            <a:endParaRPr lang="en-US" sz="3000" dirty="0"/>
          </a:p>
        </p:txBody>
      </p:sp>
      <p:sp>
        <p:nvSpPr>
          <p:cNvPr id="3" name="eyebrow-15"/>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EXHIBITORS BY BUSINESS TYPE</a:t>
            </a:r>
            <a:endParaRPr lang="en-US" sz="1100" dirty="0"/>
          </a:p>
        </p:txBody>
      </p:sp>
      <p:graphicFrame>
        <p:nvGraphicFramePr>
          <p:cNvPr id="5" name="groups-chart" descr=""/>
          <p:cNvGraphicFramePr/>
          <p:nvPr/>
        </p:nvGraphicFramePr>
        <p:xfrm>
          <a:off x="548640" y="1463040"/>
          <a:ext cx="11094415"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Retailing systems and pricing engines</a:t>
            </a:r>
            <a:endParaRPr lang="en-US" sz="3000" dirty="0"/>
          </a:p>
        </p:txBody>
      </p:sp>
      <p:sp>
        <p:nvSpPr>
          <p:cNvPr id="3" name="eyebrow-16"/>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COMMERCIAL · SELLING THE SEAT</a:t>
            </a:r>
            <a:endParaRPr lang="en-US" sz="1100" dirty="0"/>
          </a:p>
        </p:txBody>
      </p:sp>
      <p:sp>
        <p:nvSpPr>
          <p:cNvPr id="5" name="colhead-17"/>
          <p:cNvSpPr txBox="1"/>
          <p:nvPr/>
        </p:nvSpPr>
        <p:spPr>
          <a:xfrm>
            <a:off x="548640"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29</a:t>
            </a:r>
            <a:pPr indent="0" marL="0">
              <a:buNone/>
            </a:pPr>
            <a:r>
              <a:rPr lang="en-US" sz="1800" b="1" dirty="0">
                <a:solidFill>
                  <a:schemeClr val="tx1"/>
                </a:solidFill>
                <a:latin typeface="Arial" pitchFamily="34" charset="0"/>
                <a:ea typeface="Arial" pitchFamily="34" charset="-122"/>
                <a:cs typeface="Arial" pitchFamily="34" charset="-120"/>
              </a:rPr>
              <a:t>   Retailing, PSS and distribution</a:t>
            </a:r>
            <a:endParaRPr lang="en-US" sz="3000" dirty="0"/>
          </a:p>
        </p:txBody>
      </p:sp>
      <p:sp>
        <p:nvSpPr>
          <p:cNvPr id="6" name="rule-18"/>
          <p:cNvSpPr/>
          <p:nvPr/>
        </p:nvSpPr>
        <p:spPr>
          <a:xfrm>
            <a:off x="548640" y="2167128"/>
            <a:ext cx="5318608" cy="0"/>
          </a:xfrm>
          <a:prstGeom prst="line">
            <a:avLst/>
          </a:prstGeom>
          <a:noFill/>
          <a:ln w="15875">
            <a:solidFill>
              <a:schemeClr val="tx1"/>
            </a:solidFill>
            <a:prstDash val="solid"/>
          </a:ln>
        </p:spPr>
      </p:sp>
      <p:sp>
        <p:nvSpPr>
          <p:cNvPr id="7" name="segs-19"/>
          <p:cNvSpPr txBox="1"/>
          <p:nvPr/>
        </p:nvSpPr>
        <p:spPr>
          <a:xfrm>
            <a:off x="548640"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PSS and airline operating systems</a:t>
            </a:r>
            <a:endParaRPr lang="en-US" sz="1400" dirty="0"/>
          </a:p>
          <a:p>
            <a:pPr indent="0" marL="0">
              <a:spcAft>
                <a:spcPts val="900"/>
              </a:spcAft>
              <a:buNone/>
            </a:pPr>
            <a:r>
              <a:rPr lang="en-US" sz="1400" dirty="0">
                <a:solidFill>
                  <a:schemeClr val="tx2"/>
                </a:solidFill>
              </a:rPr>
              <a:t>Hitit (Crane), IBS Software, FLYR, Citizenplane, AvtraSoft, Bravo, InteliSys, KIU, Turkish Technology</a:t>
            </a:r>
            <a:endParaRPr lang="en-US" sz="1400" dirty="0"/>
          </a:p>
          <a:p>
            <a:pPr indent="0" marL="0">
              <a:buNone/>
            </a:pPr>
            <a:r>
              <a:rPr lang="en-US" sz="1400" b="1" dirty="0">
                <a:solidFill>
                  <a:schemeClr val="tx1"/>
                </a:solidFill>
              </a:rPr>
              <a:t>Offer and Order and retailing engines</a:t>
            </a:r>
            <a:endParaRPr lang="en-US" sz="1400" dirty="0"/>
          </a:p>
          <a:p>
            <a:pPr indent="0" marL="0">
              <a:spcAft>
                <a:spcPts val="900"/>
              </a:spcAft>
              <a:buNone/>
            </a:pPr>
            <a:r>
              <a:rPr lang="en-US" sz="1400" dirty="0">
                <a:solidFill>
                  <a:schemeClr val="tx2"/>
                </a:solidFill>
              </a:rPr>
              <a:t>Accelya (FLX), Datalex (Stellex), OpenJaw (t-Retail), Dgital Labs, Trident, Altovo, Retailaer</a:t>
            </a:r>
            <a:endParaRPr lang="en-US" sz="1400" dirty="0"/>
          </a:p>
          <a:p>
            <a:pPr indent="0" marL="0">
              <a:buNone/>
            </a:pPr>
            <a:r>
              <a:rPr lang="en-US" sz="1400" b="1" dirty="0">
                <a:solidFill>
                  <a:schemeClr val="tx1"/>
                </a:solidFill>
              </a:rPr>
              <a:t>Fares, NDC and distribution</a:t>
            </a:r>
            <a:endParaRPr lang="en-US" sz="1400" dirty="0"/>
          </a:p>
          <a:p>
            <a:pPr indent="0" marL="0">
              <a:spcAft>
                <a:spcPts val="900"/>
              </a:spcAft>
              <a:buNone/>
            </a:pPr>
            <a:r>
              <a:rPr lang="en-US" sz="1400" dirty="0">
                <a:solidFill>
                  <a:schemeClr val="tx2"/>
                </a:solidFill>
              </a:rPr>
              <a:t>ATPCO, Lufthansa Process Management, DRCT, NuFlights, AIRVIATECH, Letsfly, JustGo Trip, biztribution, DerbySoft</a:t>
            </a:r>
            <a:endParaRPr lang="en-US" sz="1400" dirty="0"/>
          </a:p>
          <a:p>
            <a:pPr indent="0" marL="0">
              <a:buNone/>
            </a:pPr>
            <a:r>
              <a:rPr lang="en-US" sz="1400" b="1" dirty="0">
                <a:solidFill>
                  <a:schemeClr val="tx1"/>
                </a:solidFill>
              </a:rPr>
              <a:t>New distribution models</a:t>
            </a:r>
            <a:endParaRPr lang="en-US" sz="1400" dirty="0"/>
          </a:p>
          <a:p>
            <a:pPr indent="0" marL="0">
              <a:spcAft>
                <a:spcPts val="900"/>
              </a:spcAft>
              <a:buNone/>
            </a:pPr>
            <a:r>
              <a:rPr lang="en-US" sz="1400" dirty="0">
                <a:solidFill>
                  <a:schemeClr val="tx2"/>
                </a:solidFill>
              </a:rPr>
              <a:t>Dohop (virtual interlining), TravelX (tokenised tickets), Euroairlines (IATA code as a service)</a:t>
            </a:r>
            <a:endParaRPr lang="en-US" sz="1400" dirty="0"/>
          </a:p>
        </p:txBody>
      </p:sp>
      <p:sp>
        <p:nvSpPr>
          <p:cNvPr id="8" name="colhead-20"/>
          <p:cNvSpPr txBox="1"/>
          <p:nvPr/>
        </p:nvSpPr>
        <p:spPr>
          <a:xfrm>
            <a:off x="6324448"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27</a:t>
            </a:r>
            <a:pPr indent="0" marL="0">
              <a:buNone/>
            </a:pPr>
            <a:r>
              <a:rPr lang="en-US" sz="1800" b="1" dirty="0">
                <a:solidFill>
                  <a:schemeClr val="tx1"/>
                </a:solidFill>
                <a:latin typeface="Arial" pitchFamily="34" charset="0"/>
                <a:ea typeface="Arial" pitchFamily="34" charset="-122"/>
                <a:cs typeface="Arial" pitchFamily="34" charset="-120"/>
              </a:rPr>
              <a:t>   Pricing, revenue and commercial AI</a:t>
            </a:r>
            <a:endParaRPr lang="en-US" sz="3000" dirty="0"/>
          </a:p>
        </p:txBody>
      </p:sp>
      <p:sp>
        <p:nvSpPr>
          <p:cNvPr id="9" name="rule-21"/>
          <p:cNvSpPr/>
          <p:nvPr/>
        </p:nvSpPr>
        <p:spPr>
          <a:xfrm>
            <a:off x="6324448" y="2167128"/>
            <a:ext cx="5318608" cy="0"/>
          </a:xfrm>
          <a:prstGeom prst="line">
            <a:avLst/>
          </a:prstGeom>
          <a:noFill/>
          <a:ln w="15875">
            <a:solidFill>
              <a:schemeClr val="tx1"/>
            </a:solidFill>
            <a:prstDash val="solid"/>
          </a:ln>
        </p:spPr>
      </p:sp>
      <p:sp>
        <p:nvSpPr>
          <p:cNvPr id="10" name="segs-22"/>
          <p:cNvSpPr txBox="1"/>
          <p:nvPr/>
        </p:nvSpPr>
        <p:spPr>
          <a:xfrm>
            <a:off x="6324448"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Revenue management and dynamic pricing</a:t>
            </a:r>
            <a:endParaRPr lang="en-US" sz="1400" dirty="0"/>
          </a:p>
          <a:p>
            <a:pPr indent="0" marL="0">
              <a:spcAft>
                <a:spcPts val="900"/>
              </a:spcAft>
              <a:buNone/>
            </a:pPr>
            <a:r>
              <a:rPr lang="en-US" sz="1400" dirty="0">
                <a:solidFill>
                  <a:schemeClr val="tx2"/>
                </a:solidFill>
              </a:rPr>
              <a:t>PROS, Fetcherr, Wiremind, RTS, Planitas, Airnguru, Aviator, Zenz, Rassure (revenue assurance)</a:t>
            </a:r>
            <a:endParaRPr lang="en-US" sz="1400" dirty="0"/>
          </a:p>
          <a:p>
            <a:pPr indent="0" marL="0">
              <a:buNone/>
            </a:pPr>
            <a:r>
              <a:rPr lang="en-US" sz="1400" b="1" dirty="0">
                <a:solidFill>
                  <a:schemeClr val="tx1"/>
                </a:solidFill>
              </a:rPr>
              <a:t>Decision intelligence and AI agents</a:t>
            </a:r>
            <a:endParaRPr lang="en-US" sz="1400" dirty="0"/>
          </a:p>
          <a:p>
            <a:pPr indent="0" marL="0">
              <a:spcAft>
                <a:spcPts val="900"/>
              </a:spcAft>
              <a:buNone/>
            </a:pPr>
            <a:r>
              <a:rPr lang="en-US" sz="1400" dirty="0">
                <a:solidFill>
                  <a:schemeClr val="tx2"/>
                </a:solidFill>
              </a:rPr>
              <a:t>ReluGroup, Xairlerate, telos, Vorsee, Maestrow, Aviation Intelligence, DPAI, Optifly (schedules)</a:t>
            </a:r>
            <a:endParaRPr lang="en-US" sz="1400" dirty="0"/>
          </a:p>
          <a:p>
            <a:pPr indent="0" marL="0">
              <a:buNone/>
            </a:pPr>
            <a:r>
              <a:rPr lang="en-US" sz="1400" b="1" dirty="0">
                <a:solidFill>
                  <a:schemeClr val="tx1"/>
                </a:solidFill>
              </a:rPr>
              <a:t>Demand reshaping after booking</a:t>
            </a:r>
            <a:endParaRPr lang="en-US" sz="1400" dirty="0"/>
          </a:p>
          <a:p>
            <a:pPr indent="0" marL="0">
              <a:spcAft>
                <a:spcPts val="900"/>
              </a:spcAft>
              <a:buNone/>
            </a:pPr>
            <a:r>
              <a:rPr lang="en-US" sz="1400" dirty="0">
                <a:solidFill>
                  <a:schemeClr val="tx2"/>
                </a:solidFill>
              </a:rPr>
              <a:t>Volantio (moves flexible passengers), Fairlyne (no-show resale), Swap Ticket, Deal Engine (refunds)</a:t>
            </a:r>
            <a:endParaRPr lang="en-US" sz="1400" dirty="0"/>
          </a:p>
          <a:p>
            <a:pPr indent="0" marL="0">
              <a:buNone/>
            </a:pPr>
            <a:r>
              <a:rPr lang="en-US" sz="1400" b="1" dirty="0">
                <a:solidFill>
                  <a:schemeClr val="tx1"/>
                </a:solidFill>
              </a:rPr>
              <a:t>Search cost and metasearch</a:t>
            </a:r>
            <a:endParaRPr lang="en-US" sz="1400" dirty="0"/>
          </a:p>
          <a:p>
            <a:pPr indent="0" marL="0">
              <a:spcAft>
                <a:spcPts val="900"/>
              </a:spcAft>
              <a:buNone/>
            </a:pPr>
            <a:r>
              <a:rPr lang="en-US" sz="1400" dirty="0">
                <a:solidFill>
                  <a:schemeClr val="tx2"/>
                </a:solidFill>
              </a:rPr>
              <a:t>Zerolook.ai (look-to-book), fareplace, Traveldax, RateGain</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Ancillaries, loyalty and customer data</a:t>
            </a:r>
            <a:endParaRPr lang="en-US" sz="3000" dirty="0"/>
          </a:p>
        </p:txBody>
      </p:sp>
      <p:sp>
        <p:nvSpPr>
          <p:cNvPr id="3" name="eyebrow-23"/>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COMMERCIAL · SELLING EVERYTHING ELSE</a:t>
            </a:r>
            <a:endParaRPr lang="en-US" sz="1100" dirty="0"/>
          </a:p>
        </p:txBody>
      </p:sp>
      <p:sp>
        <p:nvSpPr>
          <p:cNvPr id="5" name="colhead-24"/>
          <p:cNvSpPr txBox="1"/>
          <p:nvPr/>
        </p:nvSpPr>
        <p:spPr>
          <a:xfrm>
            <a:off x="548640"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33</a:t>
            </a:r>
            <a:pPr indent="0" marL="0">
              <a:buNone/>
            </a:pPr>
            <a:r>
              <a:rPr lang="en-US" sz="1800" b="1" dirty="0">
                <a:solidFill>
                  <a:schemeClr val="tx1"/>
                </a:solidFill>
                <a:latin typeface="Arial" pitchFamily="34" charset="0"/>
                <a:ea typeface="Arial" pitchFamily="34" charset="-122"/>
                <a:cs typeface="Arial" pitchFamily="34" charset="-120"/>
              </a:rPr>
              <a:t>   Ancillaries and partner products</a:t>
            </a:r>
            <a:endParaRPr lang="en-US" sz="3000" dirty="0"/>
          </a:p>
        </p:txBody>
      </p:sp>
      <p:sp>
        <p:nvSpPr>
          <p:cNvPr id="6" name="rule-25"/>
          <p:cNvSpPr/>
          <p:nvPr/>
        </p:nvSpPr>
        <p:spPr>
          <a:xfrm>
            <a:off x="548640" y="2167128"/>
            <a:ext cx="5318608" cy="0"/>
          </a:xfrm>
          <a:prstGeom prst="line">
            <a:avLst/>
          </a:prstGeom>
          <a:noFill/>
          <a:ln w="15875">
            <a:solidFill>
              <a:schemeClr val="tx1"/>
            </a:solidFill>
            <a:prstDash val="solid"/>
          </a:ln>
        </p:spPr>
      </p:sp>
      <p:sp>
        <p:nvSpPr>
          <p:cNvPr id="7" name="segs-26"/>
          <p:cNvSpPr txBox="1"/>
          <p:nvPr/>
        </p:nvSpPr>
        <p:spPr>
          <a:xfrm>
            <a:off x="548640"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Insurance and protection</a:t>
            </a:r>
            <a:endParaRPr lang="en-US" sz="1400" dirty="0"/>
          </a:p>
          <a:p>
            <a:pPr indent="0" marL="0">
              <a:spcAft>
                <a:spcPts val="900"/>
              </a:spcAft>
              <a:buNone/>
            </a:pPr>
            <a:r>
              <a:rPr lang="en-US" sz="1400" dirty="0">
                <a:solidFill>
                  <a:schemeClr val="tx2"/>
                </a:solidFill>
              </a:rPr>
              <a:t>Allianz Partners, Chubb, Cover Genius, Crum &amp; Forster, Blue Ribbon Bags, Hopper (price freeze, cancel for any reason)</a:t>
            </a:r>
            <a:endParaRPr lang="en-US" sz="1400" dirty="0"/>
          </a:p>
          <a:p>
            <a:pPr indent="0" marL="0">
              <a:buNone/>
            </a:pPr>
            <a:r>
              <a:rPr lang="en-US" sz="1400" b="1" dirty="0">
                <a:solidFill>
                  <a:schemeClr val="tx1"/>
                </a:solidFill>
              </a:rPr>
              <a:t>Upgrades, seats and subscriptions</a:t>
            </a:r>
            <a:endParaRPr lang="en-US" sz="1400" dirty="0"/>
          </a:p>
          <a:p>
            <a:pPr indent="0" marL="0">
              <a:spcAft>
                <a:spcPts val="900"/>
              </a:spcAft>
              <a:buNone/>
            </a:pPr>
            <a:r>
              <a:rPr lang="en-US" sz="1400" dirty="0">
                <a:solidFill>
                  <a:schemeClr val="tx2"/>
                </a:solidFill>
              </a:rPr>
              <a:t>Plusgrade, SeatBoost, Altitude, Caravelo (flight passes), 3D SeatMapVR, Seatmaps</a:t>
            </a:r>
            <a:endParaRPr lang="en-US" sz="1400" dirty="0"/>
          </a:p>
          <a:p>
            <a:pPr indent="0" marL="0">
              <a:buNone/>
            </a:pPr>
            <a:r>
              <a:rPr lang="en-US" sz="1400" b="1" dirty="0">
                <a:solidFill>
                  <a:schemeClr val="tx1"/>
                </a:solidFill>
              </a:rPr>
              <a:t>eSIM and connectivity</a:t>
            </a:r>
            <a:endParaRPr lang="en-US" sz="1400" dirty="0"/>
          </a:p>
          <a:p>
            <a:pPr indent="0" marL="0">
              <a:spcAft>
                <a:spcPts val="900"/>
              </a:spcAft>
              <a:buNone/>
            </a:pPr>
            <a:r>
              <a:rPr lang="en-US" sz="1400" dirty="0">
                <a:solidFill>
                  <a:schemeClr val="tx2"/>
                </a:solidFill>
              </a:rPr>
              <a:t>Airalo, Yesim (Genesis Group), HOAM eSIM, Vodafone Travel eSIM, Alphacomm</a:t>
            </a:r>
            <a:endParaRPr lang="en-US" sz="1400" dirty="0"/>
          </a:p>
          <a:p>
            <a:pPr indent="0" marL="0">
              <a:buNone/>
            </a:pPr>
            <a:r>
              <a:rPr lang="en-US" sz="1400" b="1" dirty="0">
                <a:solidFill>
                  <a:schemeClr val="tx1"/>
                </a:solidFill>
              </a:rPr>
              <a:t>Hotels, cars and travel extras</a:t>
            </a:r>
            <a:endParaRPr lang="en-US" sz="1400" dirty="0"/>
          </a:p>
          <a:p>
            <a:pPr indent="0" marL="0">
              <a:spcAft>
                <a:spcPts val="900"/>
              </a:spcAft>
              <a:buNone/>
            </a:pPr>
            <a:r>
              <a:rPr lang="en-US" sz="1400" dirty="0">
                <a:solidFill>
                  <a:schemeClr val="tx2"/>
                </a:solidFill>
              </a:rPr>
              <a:t>CarTrawler, Meili, Arbitrip, Holiday Extras, Cavu, Bytetravel, Sherpa (visas)</a:t>
            </a:r>
            <a:endParaRPr lang="en-US" sz="1400" dirty="0"/>
          </a:p>
          <a:p>
            <a:pPr indent="0" marL="0">
              <a:buNone/>
            </a:pPr>
            <a:r>
              <a:rPr lang="en-US" sz="1400" b="1" dirty="0">
                <a:solidFill>
                  <a:schemeClr val="tx1"/>
                </a:solidFill>
              </a:rPr>
              <a:t>Ancillary marketplaces and retail media</a:t>
            </a:r>
            <a:endParaRPr lang="en-US" sz="1400" dirty="0"/>
          </a:p>
          <a:p>
            <a:pPr indent="0" marL="0">
              <a:spcAft>
                <a:spcPts val="900"/>
              </a:spcAft>
              <a:buNone/>
            </a:pPr>
            <a:r>
              <a:rPr lang="en-US" sz="1400" dirty="0">
                <a:solidFill>
                  <a:schemeClr val="tx2"/>
                </a:solidFill>
              </a:rPr>
              <a:t>Arcube, Ancillarate, Platform 195, Smartvel, InterLnkd, RoamOn</a:t>
            </a:r>
            <a:endParaRPr lang="en-US" sz="1400" dirty="0"/>
          </a:p>
        </p:txBody>
      </p:sp>
      <p:sp>
        <p:nvSpPr>
          <p:cNvPr id="8" name="colhead-27"/>
          <p:cNvSpPr txBox="1"/>
          <p:nvPr/>
        </p:nvSpPr>
        <p:spPr>
          <a:xfrm>
            <a:off x="6324448"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18</a:t>
            </a:r>
            <a:pPr indent="0" marL="0">
              <a:buNone/>
            </a:pPr>
            <a:r>
              <a:rPr lang="en-US" sz="1800" b="1" dirty="0">
                <a:solidFill>
                  <a:schemeClr val="tx1"/>
                </a:solidFill>
                <a:latin typeface="Arial" pitchFamily="34" charset="0"/>
                <a:ea typeface="Arial" pitchFamily="34" charset="-122"/>
                <a:cs typeface="Arial" pitchFamily="34" charset="-120"/>
              </a:rPr>
              <a:t>   Loyalty, customer data and marketing</a:t>
            </a:r>
            <a:endParaRPr lang="en-US" sz="3000" dirty="0"/>
          </a:p>
        </p:txBody>
      </p:sp>
      <p:sp>
        <p:nvSpPr>
          <p:cNvPr id="9" name="rule-28"/>
          <p:cNvSpPr/>
          <p:nvPr/>
        </p:nvSpPr>
        <p:spPr>
          <a:xfrm>
            <a:off x="6324448" y="2167128"/>
            <a:ext cx="5318608" cy="0"/>
          </a:xfrm>
          <a:prstGeom prst="line">
            <a:avLst/>
          </a:prstGeom>
          <a:noFill/>
          <a:ln w="15875">
            <a:solidFill>
              <a:schemeClr val="tx1"/>
            </a:solidFill>
            <a:prstDash val="solid"/>
          </a:ln>
        </p:spPr>
      </p:sp>
      <p:sp>
        <p:nvSpPr>
          <p:cNvPr id="10" name="segs-29"/>
          <p:cNvSpPr txBox="1"/>
          <p:nvPr/>
        </p:nvSpPr>
        <p:spPr>
          <a:xfrm>
            <a:off x="6324448"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Loyalty technology and rewards</a:t>
            </a:r>
            <a:endParaRPr lang="en-US" sz="1400" dirty="0"/>
          </a:p>
          <a:p>
            <a:pPr indent="0" marL="0">
              <a:spcAft>
                <a:spcPts val="900"/>
              </a:spcAft>
              <a:buNone/>
            </a:pPr>
            <a:r>
              <a:rPr lang="en-US" sz="1400" dirty="0">
                <a:solidFill>
                  <a:schemeClr val="tx2"/>
                </a:solidFill>
              </a:rPr>
              <a:t>Loyalty Partner Solutions (Amex group), Gyoza Flights, AwardFares, Blackhawk Network, Passtination, KYFO, SheerID, ID90 Travel</a:t>
            </a:r>
            <a:endParaRPr lang="en-US" sz="1400" dirty="0"/>
          </a:p>
          <a:p>
            <a:pPr indent="0" marL="0">
              <a:buNone/>
            </a:pPr>
            <a:r>
              <a:rPr lang="en-US" sz="1400" b="1" dirty="0">
                <a:solidFill>
                  <a:schemeClr val="tx1"/>
                </a:solidFill>
              </a:rPr>
              <a:t>Customer data and digital experience</a:t>
            </a:r>
            <a:endParaRPr lang="en-US" sz="1400" dirty="0"/>
          </a:p>
          <a:p>
            <a:pPr indent="0" marL="0">
              <a:spcAft>
                <a:spcPts val="900"/>
              </a:spcAft>
              <a:buNone/>
            </a:pPr>
            <a:r>
              <a:rPr lang="en-US" sz="1400" dirty="0">
                <a:solidFill>
                  <a:schemeClr val="tx2"/>
                </a:solidFill>
              </a:rPr>
              <a:t>Adobe, Amperity (CDP), Quantum Metric, Raven, Queue-it, ADC Data and AI</a:t>
            </a:r>
            <a:endParaRPr lang="en-US" sz="1400" dirty="0"/>
          </a:p>
          <a:p>
            <a:pPr indent="0" marL="0">
              <a:buNone/>
            </a:pPr>
            <a:r>
              <a:rPr lang="en-US" sz="1400" b="1" dirty="0">
                <a:solidFill>
                  <a:schemeClr val="tx1"/>
                </a:solidFill>
              </a:rPr>
              <a:t>AI search visibility and language</a:t>
            </a:r>
            <a:endParaRPr lang="en-US" sz="1400" dirty="0"/>
          </a:p>
          <a:p>
            <a:pPr indent="0" marL="0">
              <a:spcAft>
                <a:spcPts val="900"/>
              </a:spcAft>
              <a:buNone/>
            </a:pPr>
            <a:r>
              <a:rPr lang="en-US" sz="1400" dirty="0">
                <a:solidFill>
                  <a:schemeClr val="tx2"/>
                </a:solidFill>
              </a:rPr>
              <a:t>Profound (brand visibility in AI answers), LILT, TransPerfect, RWS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Payments, fraud and cyber security</a:t>
            </a:r>
            <a:endParaRPr lang="en-US" sz="3000" dirty="0"/>
          </a:p>
        </p:txBody>
      </p:sp>
      <p:sp>
        <p:nvSpPr>
          <p:cNvPr id="3" name="eyebrow-3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COMMERCIAL · GETTING PAID SAFELY</a:t>
            </a:r>
            <a:endParaRPr lang="en-US" sz="1100" dirty="0"/>
          </a:p>
        </p:txBody>
      </p:sp>
      <p:sp>
        <p:nvSpPr>
          <p:cNvPr id="5" name="colhead-31"/>
          <p:cNvSpPr txBox="1"/>
          <p:nvPr/>
        </p:nvSpPr>
        <p:spPr>
          <a:xfrm>
            <a:off x="548640"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22</a:t>
            </a:r>
            <a:pPr indent="0" marL="0">
              <a:buNone/>
            </a:pPr>
            <a:r>
              <a:rPr lang="en-US" sz="1800" b="1" dirty="0">
                <a:solidFill>
                  <a:schemeClr val="tx1"/>
                </a:solidFill>
                <a:latin typeface="Arial" pitchFamily="34" charset="0"/>
                <a:ea typeface="Arial" pitchFamily="34" charset="-122"/>
                <a:cs typeface="Arial" pitchFamily="34" charset="-120"/>
              </a:rPr>
              <a:t>   Payments, fintech and fraud</a:t>
            </a:r>
            <a:endParaRPr lang="en-US" sz="3000" dirty="0"/>
          </a:p>
        </p:txBody>
      </p:sp>
      <p:sp>
        <p:nvSpPr>
          <p:cNvPr id="6" name="rule-32"/>
          <p:cNvSpPr/>
          <p:nvPr/>
        </p:nvSpPr>
        <p:spPr>
          <a:xfrm>
            <a:off x="548640" y="2167128"/>
            <a:ext cx="5318608" cy="0"/>
          </a:xfrm>
          <a:prstGeom prst="line">
            <a:avLst/>
          </a:prstGeom>
          <a:noFill/>
          <a:ln w="15875">
            <a:solidFill>
              <a:schemeClr val="tx1"/>
            </a:solidFill>
            <a:prstDash val="solid"/>
          </a:ln>
        </p:spPr>
      </p:sp>
      <p:sp>
        <p:nvSpPr>
          <p:cNvPr id="7" name="segs-33"/>
          <p:cNvSpPr txBox="1"/>
          <p:nvPr/>
        </p:nvSpPr>
        <p:spPr>
          <a:xfrm>
            <a:off x="548640"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Acquiring and global payment platforms</a:t>
            </a:r>
            <a:endParaRPr lang="en-US" sz="1400" dirty="0"/>
          </a:p>
          <a:p>
            <a:pPr indent="0" marL="0">
              <a:spcAft>
                <a:spcPts val="900"/>
              </a:spcAft>
              <a:buNone/>
            </a:pPr>
            <a:r>
              <a:rPr lang="en-US" sz="1400" dirty="0">
                <a:solidFill>
                  <a:schemeClr val="tx2"/>
                </a:solidFill>
              </a:rPr>
              <a:t>Adyen (shared stand with Microsoft and amicis), Worldline, Nuvei, Antom, Mastercard, UATP, ARC, YeePay</a:t>
            </a:r>
            <a:endParaRPr lang="en-US" sz="1400" dirty="0"/>
          </a:p>
          <a:p>
            <a:pPr indent="0" marL="0">
              <a:buNone/>
            </a:pPr>
            <a:r>
              <a:rPr lang="en-US" sz="1400" b="1" dirty="0">
                <a:solidFill>
                  <a:schemeClr val="tx1"/>
                </a:solidFill>
              </a:rPr>
              <a:t>Orchestration and checkout</a:t>
            </a:r>
            <a:endParaRPr lang="en-US" sz="1400" dirty="0"/>
          </a:p>
          <a:p>
            <a:pPr indent="0" marL="0">
              <a:spcAft>
                <a:spcPts val="900"/>
              </a:spcAft>
              <a:buNone/>
            </a:pPr>
            <a:r>
              <a:rPr lang="en-US" sz="1400" dirty="0">
                <a:solidFill>
                  <a:schemeClr val="tx2"/>
                </a:solidFill>
              </a:rPr>
              <a:t>CellPoint, APEXX, Juspay, Hands In (split payments), Movmo (checkout for AI agents), Smart Payment Technologies</a:t>
            </a:r>
            <a:endParaRPr lang="en-US" sz="1400" dirty="0"/>
          </a:p>
          <a:p>
            <a:pPr indent="0" marL="0">
              <a:buNone/>
            </a:pPr>
            <a:r>
              <a:rPr lang="en-US" sz="1400" b="1" dirty="0">
                <a:solidFill>
                  <a:schemeClr val="tx1"/>
                </a:solidFill>
              </a:rPr>
              <a:t>Buy now, pay later</a:t>
            </a:r>
            <a:endParaRPr lang="en-US" sz="1400" dirty="0"/>
          </a:p>
          <a:p>
            <a:pPr indent="0" marL="0">
              <a:spcAft>
                <a:spcPts val="900"/>
              </a:spcAft>
              <a:buNone/>
            </a:pPr>
            <a:r>
              <a:rPr lang="en-US" sz="1400" dirty="0">
                <a:solidFill>
                  <a:schemeClr val="tx2"/>
                </a:solidFill>
              </a:rPr>
              <a:t>Klarna, Affirm, Upgrade (Flex Pay)</a:t>
            </a:r>
            <a:endParaRPr lang="en-US" sz="1400" dirty="0"/>
          </a:p>
          <a:p>
            <a:pPr indent="0" marL="0">
              <a:buNone/>
            </a:pPr>
            <a:r>
              <a:rPr lang="en-US" sz="1400" b="1" dirty="0">
                <a:solidFill>
                  <a:schemeClr val="tx1"/>
                </a:solidFill>
              </a:rPr>
              <a:t>Fraud prevention and spend cards</a:t>
            </a:r>
            <a:endParaRPr lang="en-US" sz="1400" dirty="0"/>
          </a:p>
          <a:p>
            <a:pPr indent="0" marL="0">
              <a:spcAft>
                <a:spcPts val="900"/>
              </a:spcAft>
              <a:buNone/>
            </a:pPr>
            <a:r>
              <a:rPr lang="en-US" sz="1400" dirty="0">
                <a:solidFill>
                  <a:schemeClr val="tx2"/>
                </a:solidFill>
              </a:rPr>
              <a:t>Riskified, Signifyd, Pliant (crew and disruption cards)</a:t>
            </a:r>
            <a:endParaRPr lang="en-US" sz="1400" dirty="0"/>
          </a:p>
        </p:txBody>
      </p:sp>
      <p:sp>
        <p:nvSpPr>
          <p:cNvPr id="8" name="colhead-34"/>
          <p:cNvSpPr txBox="1"/>
          <p:nvPr/>
        </p:nvSpPr>
        <p:spPr>
          <a:xfrm>
            <a:off x="6324448"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7</a:t>
            </a:r>
            <a:pPr indent="0" marL="0">
              <a:buNone/>
            </a:pPr>
            <a:r>
              <a:rPr lang="en-US" sz="1800" b="1" dirty="0">
                <a:solidFill>
                  <a:schemeClr val="tx1"/>
                </a:solidFill>
                <a:latin typeface="Arial" pitchFamily="34" charset="0"/>
                <a:ea typeface="Arial" pitchFamily="34" charset="-122"/>
                <a:cs typeface="Arial" pitchFamily="34" charset="-120"/>
              </a:rPr>
              <a:t>   Cyber security and brand protection</a:t>
            </a:r>
            <a:endParaRPr lang="en-US" sz="3000" dirty="0"/>
          </a:p>
        </p:txBody>
      </p:sp>
      <p:sp>
        <p:nvSpPr>
          <p:cNvPr id="9" name="rule-35"/>
          <p:cNvSpPr/>
          <p:nvPr/>
        </p:nvSpPr>
        <p:spPr>
          <a:xfrm>
            <a:off x="6324448" y="2167128"/>
            <a:ext cx="5318608" cy="0"/>
          </a:xfrm>
          <a:prstGeom prst="line">
            <a:avLst/>
          </a:prstGeom>
          <a:noFill/>
          <a:ln w="15875">
            <a:solidFill>
              <a:schemeClr val="tx1"/>
            </a:solidFill>
            <a:prstDash val="solid"/>
          </a:ln>
        </p:spPr>
      </p:sp>
      <p:sp>
        <p:nvSpPr>
          <p:cNvPr id="10" name="segs-36"/>
          <p:cNvSpPr txBox="1"/>
          <p:nvPr/>
        </p:nvSpPr>
        <p:spPr>
          <a:xfrm>
            <a:off x="6324448" y="2286000"/>
            <a:ext cx="5318608" cy="2560320"/>
          </a:xfrm>
          <a:prstGeom prst="rect">
            <a:avLst/>
          </a:prstGeom>
          <a:noFill/>
          <a:ln/>
        </p:spPr>
        <p:txBody>
          <a:bodyPr wrap="square" lIns="0" tIns="0" rIns="0" bIns="0" rtlCol="0" anchor="t"/>
          <a:lstStyle/>
          <a:p>
            <a:pPr indent="0" marL="0">
              <a:buNone/>
            </a:pPr>
            <a:r>
              <a:rPr lang="en-US" sz="1400" b="1" dirty="0">
                <a:solidFill>
                  <a:schemeClr val="tx1"/>
                </a:solidFill>
              </a:rPr>
              <a:t>Bots, scraping and account takeover</a:t>
            </a:r>
            <a:endParaRPr lang="en-US" sz="1400" dirty="0"/>
          </a:p>
          <a:p>
            <a:pPr indent="0" marL="0">
              <a:spcAft>
                <a:spcPts val="900"/>
              </a:spcAft>
              <a:buNone/>
            </a:pPr>
            <a:r>
              <a:rPr lang="en-US" sz="1400" dirty="0">
                <a:solidFill>
                  <a:schemeClr val="tx2"/>
                </a:solidFill>
              </a:rPr>
              <a:t>HUMAN Security (“Agentic Trust”), Kasada</a:t>
            </a:r>
            <a:endParaRPr lang="en-US" sz="1400" dirty="0"/>
          </a:p>
          <a:p>
            <a:pPr indent="0" marL="0">
              <a:buNone/>
            </a:pPr>
            <a:r>
              <a:rPr lang="en-US" sz="1400" b="1" dirty="0">
                <a:solidFill>
                  <a:schemeClr val="tx1"/>
                </a:solidFill>
              </a:rPr>
              <a:t>Identity and zero trust</a:t>
            </a:r>
            <a:endParaRPr lang="en-US" sz="1400" dirty="0"/>
          </a:p>
          <a:p>
            <a:pPr indent="0" marL="0">
              <a:spcAft>
                <a:spcPts val="900"/>
              </a:spcAft>
              <a:buNone/>
            </a:pPr>
            <a:r>
              <a:rPr lang="en-US" sz="1400" dirty="0">
                <a:solidFill>
                  <a:schemeClr val="tx2"/>
                </a:solidFill>
              </a:rPr>
              <a:t>Ping Identity (customer and workforce logins), ThreatLocker</a:t>
            </a:r>
            <a:endParaRPr lang="en-US" sz="1400" dirty="0"/>
          </a:p>
          <a:p>
            <a:pPr indent="0" marL="0">
              <a:buNone/>
            </a:pPr>
            <a:r>
              <a:rPr lang="en-US" sz="1400" b="1" dirty="0">
                <a:solidFill>
                  <a:schemeClr val="tx1"/>
                </a:solidFill>
              </a:rPr>
              <a:t>Brand hijacking and general security</a:t>
            </a:r>
            <a:endParaRPr lang="en-US" sz="1400" dirty="0"/>
          </a:p>
          <a:p>
            <a:pPr indent="0" marL="0">
              <a:spcAft>
                <a:spcPts val="900"/>
              </a:spcAft>
              <a:buNone/>
            </a:pPr>
            <a:r>
              <a:rPr lang="en-US" sz="1400" dirty="0">
                <a:solidFill>
                  <a:schemeClr val="tx2"/>
                </a:solidFill>
              </a:rPr>
              <a:t>ImpersonAlly (affiliate and brand fraud), Cybernet Secure, AERO-SEC</a:t>
            </a:r>
            <a:endParaRPr lang="en-US" sz="1400" dirty="0"/>
          </a:p>
        </p:txBody>
      </p:sp>
      <p:sp>
        <p:nvSpPr>
          <p:cNvPr id="11" name="card-37"/>
          <p:cNvSpPr/>
          <p:nvPr/>
        </p:nvSpPr>
        <p:spPr>
          <a:xfrm>
            <a:off x="6324448" y="4892040"/>
            <a:ext cx="5318608" cy="1234440"/>
          </a:xfrm>
          <a:prstGeom prst="roundRect">
            <a:avLst>
              <a:gd name="adj" fmla="val 8889"/>
            </a:avLst>
          </a:prstGeom>
          <a:solidFill>
            <a:schemeClr val="bg2"/>
          </a:solidFill>
          <a:ln w="12700">
            <a:solidFill>
              <a:schemeClr val="bg2"/>
            </a:solidFill>
            <a:prstDash val="solid"/>
          </a:ln>
        </p:spPr>
      </p:sp>
      <p:sp>
        <p:nvSpPr>
          <p:cNvPr id="12" name="callout-38"/>
          <p:cNvSpPr txBox="1"/>
          <p:nvPr/>
        </p:nvSpPr>
        <p:spPr>
          <a:xfrm>
            <a:off x="6507328" y="4937760"/>
            <a:ext cx="4952848" cy="1143000"/>
          </a:xfrm>
          <a:prstGeom prst="rect">
            <a:avLst/>
          </a:prstGeom>
          <a:noFill/>
          <a:ln/>
        </p:spPr>
        <p:txBody>
          <a:bodyPr wrap="square" lIns="0" tIns="0" rIns="0" bIns="0" rtlCol="0" anchor="ctr"/>
          <a:lstStyle/>
          <a:p>
            <a:pPr indent="0" marL="0">
              <a:buNone/>
            </a:pPr>
            <a:r>
              <a:rPr lang="en-US" sz="1300" dirty="0">
                <a:solidFill>
                  <a:schemeClr val="tx1"/>
                </a:solidFill>
              </a:rPr>
              <a:t>Why it matters now: when AI agents shop and pay for travellers, airlines need to tell good bots from bad ones. That was the theme of the Day 1 Cyber Security track and of the Ping Identity talk “Autopilot was never unsupervised”.</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AI customer service and passenger apps</a:t>
            </a:r>
            <a:endParaRPr lang="en-US" sz="3000" dirty="0"/>
          </a:p>
        </p:txBody>
      </p:sp>
      <p:sp>
        <p:nvSpPr>
          <p:cNvPr id="3" name="eyebrow-39"/>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CUSTOMER · SERVING THE PASSENGER</a:t>
            </a:r>
            <a:endParaRPr lang="en-US" sz="1100" dirty="0"/>
          </a:p>
        </p:txBody>
      </p:sp>
      <p:sp>
        <p:nvSpPr>
          <p:cNvPr id="5" name="count-40"/>
          <p:cNvSpPr txBox="1"/>
          <p:nvPr/>
        </p:nvSpPr>
        <p:spPr>
          <a:xfrm>
            <a:off x="10180015" y="502920"/>
            <a:ext cx="1463040" cy="868680"/>
          </a:xfrm>
          <a:prstGeom prst="rect">
            <a:avLst/>
          </a:prstGeom>
          <a:noFill/>
          <a:ln/>
        </p:spPr>
        <p:txBody>
          <a:bodyPr wrap="square" lIns="0" tIns="0" rIns="0" bIns="0" rtlCol="0" anchor="ctr"/>
          <a:lstStyle/>
          <a:p>
            <a:pPr algn="r" indent="0" marL="0">
              <a:buNone/>
            </a:pPr>
            <a:r>
              <a:rPr lang="en-US" sz="4800" b="1" dirty="0">
                <a:solidFill>
                  <a:schemeClr val="accent1"/>
                </a:solidFill>
                <a:latin typeface="Arial" pitchFamily="34" charset="0"/>
                <a:ea typeface="Arial" pitchFamily="34" charset="-122"/>
                <a:cs typeface="Arial" pitchFamily="34" charset="-120"/>
              </a:rPr>
              <a:t>36</a:t>
            </a:r>
            <a:endParaRPr lang="en-US" sz="4800" dirty="0"/>
          </a:p>
        </p:txBody>
      </p:sp>
      <p:sp>
        <p:nvSpPr>
          <p:cNvPr id="6" name="rule-41"/>
          <p:cNvSpPr/>
          <p:nvPr/>
        </p:nvSpPr>
        <p:spPr>
          <a:xfrm>
            <a:off x="548640" y="1600200"/>
            <a:ext cx="5318608" cy="0"/>
          </a:xfrm>
          <a:prstGeom prst="line">
            <a:avLst/>
          </a:prstGeom>
          <a:noFill/>
          <a:ln w="15875">
            <a:solidFill>
              <a:schemeClr val="tx1"/>
            </a:solidFill>
            <a:prstDash val="solid"/>
          </a:ln>
        </p:spPr>
      </p:sp>
      <p:sp>
        <p:nvSpPr>
          <p:cNvPr id="7" name="block-42"/>
          <p:cNvSpPr txBox="1"/>
          <p:nvPr/>
        </p:nvSpPr>
        <p:spPr>
          <a:xfrm>
            <a:off x="548640" y="17099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AI agent platforms (any industry)</a:t>
            </a:r>
            <a:endParaRPr lang="en-US" sz="1600" dirty="0"/>
          </a:p>
          <a:p>
            <a:pPr indent="0" marL="0">
              <a:buNone/>
            </a:pPr>
            <a:r>
              <a:rPr lang="en-US" sz="1400" dirty="0">
                <a:solidFill>
                  <a:schemeClr val="tx2"/>
                </a:solidFill>
              </a:rPr>
              <a:t>Sierra, Decagon, Ada, Cresta, delight.ai, HappyRobot (voice), Hubtype, Televanta, Kaiban, Aerya</a:t>
            </a:r>
            <a:endParaRPr lang="en-US" sz="1600" dirty="0"/>
          </a:p>
        </p:txBody>
      </p:sp>
      <p:sp>
        <p:nvSpPr>
          <p:cNvPr id="8" name="rule-43"/>
          <p:cNvSpPr/>
          <p:nvPr/>
        </p:nvSpPr>
        <p:spPr>
          <a:xfrm>
            <a:off x="6324448" y="1600200"/>
            <a:ext cx="5318608" cy="0"/>
          </a:xfrm>
          <a:prstGeom prst="line">
            <a:avLst/>
          </a:prstGeom>
          <a:noFill/>
          <a:ln w="15875">
            <a:solidFill>
              <a:schemeClr val="tx1"/>
            </a:solidFill>
            <a:prstDash val="solid"/>
          </a:ln>
        </p:spPr>
      </p:sp>
      <p:sp>
        <p:nvSpPr>
          <p:cNvPr id="9" name="block-44"/>
          <p:cNvSpPr txBox="1"/>
          <p:nvPr/>
        </p:nvSpPr>
        <p:spPr>
          <a:xfrm>
            <a:off x="6324448" y="17099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Airline AI agents that rebook and refund</a:t>
            </a:r>
            <a:endParaRPr lang="en-US" sz="1600" dirty="0"/>
          </a:p>
          <a:p>
            <a:pPr indent="0" marL="0">
              <a:buNone/>
            </a:pPr>
            <a:r>
              <a:rPr lang="en-US" sz="1400" dirty="0">
                <a:solidFill>
                  <a:schemeClr val="tx2"/>
                </a:solidFill>
              </a:rPr>
              <a:t>Zingly (live at Pegasus), Humoniq, Openair, ONEJRNY, Stormy, Passenger.care, Lumo, Avocado55 (AirCS claims), ALPIC</a:t>
            </a:r>
            <a:endParaRPr lang="en-US" sz="1600" dirty="0"/>
          </a:p>
        </p:txBody>
      </p:sp>
      <p:sp>
        <p:nvSpPr>
          <p:cNvPr id="10" name="rule-45"/>
          <p:cNvSpPr/>
          <p:nvPr/>
        </p:nvSpPr>
        <p:spPr>
          <a:xfrm>
            <a:off x="548640" y="2971800"/>
            <a:ext cx="5318608" cy="0"/>
          </a:xfrm>
          <a:prstGeom prst="line">
            <a:avLst/>
          </a:prstGeom>
          <a:noFill/>
          <a:ln w="15875">
            <a:solidFill>
              <a:schemeClr val="tx1"/>
            </a:solidFill>
            <a:prstDash val="solid"/>
          </a:ln>
        </p:spPr>
      </p:sp>
      <p:sp>
        <p:nvSpPr>
          <p:cNvPr id="11" name="block-46"/>
          <p:cNvSpPr txBox="1"/>
          <p:nvPr/>
        </p:nvSpPr>
        <p:spPr>
          <a:xfrm>
            <a:off x="548640" y="30815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Messaging, voice and airport companions</a:t>
            </a:r>
            <a:endParaRPr lang="en-US" sz="1600" dirty="0"/>
          </a:p>
          <a:p>
            <a:pPr indent="0" marL="0">
              <a:buNone/>
            </a:pPr>
            <a:r>
              <a:rPr lang="en-US" sz="1400" dirty="0">
                <a:solidFill>
                  <a:schemeClr val="tx2"/>
                </a:solidFill>
              </a:rPr>
              <a:t>22North (WhatsApp), Cielo (voice callbacks), Hello Airport, FlyBuddy, Hubway (AI concierge), Bonafide</a:t>
            </a:r>
            <a:endParaRPr lang="en-US" sz="1600" dirty="0"/>
          </a:p>
        </p:txBody>
      </p:sp>
      <p:sp>
        <p:nvSpPr>
          <p:cNvPr id="12" name="rule-47"/>
          <p:cNvSpPr/>
          <p:nvPr/>
        </p:nvSpPr>
        <p:spPr>
          <a:xfrm>
            <a:off x="6324448" y="2971800"/>
            <a:ext cx="5318608" cy="0"/>
          </a:xfrm>
          <a:prstGeom prst="line">
            <a:avLst/>
          </a:prstGeom>
          <a:noFill/>
          <a:ln w="15875">
            <a:solidFill>
              <a:schemeClr val="tx1"/>
            </a:solidFill>
            <a:prstDash val="solid"/>
          </a:ln>
        </p:spPr>
      </p:sp>
      <p:sp>
        <p:nvSpPr>
          <p:cNvPr id="13" name="block-48"/>
          <p:cNvSpPr txBox="1"/>
          <p:nvPr/>
        </p:nvSpPr>
        <p:spPr>
          <a:xfrm>
            <a:off x="6324448" y="30815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CX insight, accessibility and niches</a:t>
            </a:r>
            <a:endParaRPr lang="en-US" sz="1600" dirty="0"/>
          </a:p>
          <a:p>
            <a:pPr indent="0" marL="0">
              <a:buNone/>
            </a:pPr>
            <a:r>
              <a:rPr lang="en-US" sz="1400" dirty="0">
                <a:solidFill>
                  <a:schemeClr val="tx2"/>
                </a:solidFill>
              </a:rPr>
              <a:t>CQI Sense (churn signals), Wayfinding CXi, signapse (sign language), Paws Abroad and PadsPass (pet travel)</a:t>
            </a:r>
            <a:endParaRPr lang="en-US" sz="1600" dirty="0"/>
          </a:p>
        </p:txBody>
      </p:sp>
      <p:sp>
        <p:nvSpPr>
          <p:cNvPr id="14" name="card-49"/>
          <p:cNvSpPr/>
          <p:nvPr/>
        </p:nvSpPr>
        <p:spPr>
          <a:xfrm>
            <a:off x="548640" y="5394960"/>
            <a:ext cx="11094415" cy="731520"/>
          </a:xfrm>
          <a:prstGeom prst="roundRect">
            <a:avLst>
              <a:gd name="adj" fmla="val 15000"/>
            </a:avLst>
          </a:prstGeom>
          <a:solidFill>
            <a:schemeClr val="bg2"/>
          </a:solidFill>
          <a:ln w="12700">
            <a:solidFill>
              <a:schemeClr val="bg2"/>
            </a:solidFill>
            <a:prstDash val="solid"/>
          </a:ln>
        </p:spPr>
      </p:sp>
      <p:sp>
        <p:nvSpPr>
          <p:cNvPr id="15" name="callout-50"/>
          <p:cNvSpPr txBox="1"/>
          <p:nvPr/>
        </p:nvSpPr>
        <p:spPr>
          <a:xfrm>
            <a:off x="777240" y="5394960"/>
            <a:ext cx="10637215" cy="731520"/>
          </a:xfrm>
          <a:prstGeom prst="rect">
            <a:avLst/>
          </a:prstGeom>
          <a:noFill/>
          <a:ln/>
        </p:spPr>
        <p:txBody>
          <a:bodyPr wrap="square" lIns="0" tIns="0" rIns="0" bIns="0" rtlCol="0" anchor="ctr"/>
          <a:lstStyle/>
          <a:p>
            <a:pPr indent="0" marL="0">
              <a:buNone/>
            </a:pPr>
            <a:r>
              <a:rPr lang="en-US" sz="1400" dirty="0">
                <a:solidFill>
                  <a:schemeClr val="tx1"/>
                </a:solidFill>
              </a:rPr>
              <a:t>The largest group on the floor. General AI agent platforms now compete directly with airline specialists. The airline specialists sell deep PSS and GDS connections, so their agent can actually change a booking instead of only answering questions.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Disruption and passenger care (IROPS)</a:t>
            </a:r>
            <a:endParaRPr lang="en-US" sz="3000" dirty="0"/>
          </a:p>
        </p:txBody>
      </p:sp>
      <p:sp>
        <p:nvSpPr>
          <p:cNvPr id="3" name="eyebrow-51"/>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CUSTOMER · WHEN THINGS GO WRONG</a:t>
            </a:r>
            <a:endParaRPr lang="en-US" sz="1100" dirty="0"/>
          </a:p>
        </p:txBody>
      </p:sp>
      <p:sp>
        <p:nvSpPr>
          <p:cNvPr id="5" name="count-52"/>
          <p:cNvSpPr txBox="1"/>
          <p:nvPr/>
        </p:nvSpPr>
        <p:spPr>
          <a:xfrm>
            <a:off x="10180015" y="502920"/>
            <a:ext cx="1463040" cy="868680"/>
          </a:xfrm>
          <a:prstGeom prst="rect">
            <a:avLst/>
          </a:prstGeom>
          <a:noFill/>
          <a:ln/>
        </p:spPr>
        <p:txBody>
          <a:bodyPr wrap="square" lIns="0" tIns="0" rIns="0" bIns="0" rtlCol="0" anchor="ctr"/>
          <a:lstStyle/>
          <a:p>
            <a:pPr algn="r" indent="0" marL="0">
              <a:buNone/>
            </a:pPr>
            <a:r>
              <a:rPr lang="en-US" sz="4800" b="1" dirty="0">
                <a:solidFill>
                  <a:schemeClr val="accent1"/>
                </a:solidFill>
                <a:latin typeface="Arial" pitchFamily="34" charset="0"/>
                <a:ea typeface="Arial" pitchFamily="34" charset="-122"/>
                <a:cs typeface="Arial" pitchFamily="34" charset="-120"/>
              </a:rPr>
              <a:t>17</a:t>
            </a:r>
            <a:endParaRPr lang="en-US" sz="4800" dirty="0"/>
          </a:p>
        </p:txBody>
      </p:sp>
      <p:sp>
        <p:nvSpPr>
          <p:cNvPr id="6" name="rule-53"/>
          <p:cNvSpPr/>
          <p:nvPr/>
        </p:nvSpPr>
        <p:spPr>
          <a:xfrm>
            <a:off x="548640" y="1600200"/>
            <a:ext cx="5318608" cy="0"/>
          </a:xfrm>
          <a:prstGeom prst="line">
            <a:avLst/>
          </a:prstGeom>
          <a:noFill/>
          <a:ln w="15875">
            <a:solidFill>
              <a:schemeClr val="tx1"/>
            </a:solidFill>
            <a:prstDash val="solid"/>
          </a:ln>
        </p:spPr>
      </p:sp>
      <p:sp>
        <p:nvSpPr>
          <p:cNvPr id="7" name="block-54"/>
          <p:cNvSpPr txBox="1"/>
          <p:nvPr/>
        </p:nvSpPr>
        <p:spPr>
          <a:xfrm>
            <a:off x="548640" y="17099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Messaging and recovery systems</a:t>
            </a:r>
            <a:endParaRPr lang="en-US" sz="1600" dirty="0"/>
          </a:p>
          <a:p>
            <a:pPr indent="0" marL="0">
              <a:buNone/>
            </a:pPr>
            <a:r>
              <a:rPr lang="en-US" sz="1400" dirty="0">
                <a:solidFill>
                  <a:schemeClr val="tx2"/>
                </a:solidFill>
              </a:rPr>
              <a:t>15below (disruption messaging), Plan3 (self-service rebooking dashboard), TA Connections (Corpay), Yuvo</a:t>
            </a:r>
            <a:endParaRPr lang="en-US" sz="1600" dirty="0"/>
          </a:p>
        </p:txBody>
      </p:sp>
      <p:sp>
        <p:nvSpPr>
          <p:cNvPr id="8" name="rule-55"/>
          <p:cNvSpPr/>
          <p:nvPr/>
        </p:nvSpPr>
        <p:spPr>
          <a:xfrm>
            <a:off x="6324448" y="1600200"/>
            <a:ext cx="5318608" cy="0"/>
          </a:xfrm>
          <a:prstGeom prst="line">
            <a:avLst/>
          </a:prstGeom>
          <a:noFill/>
          <a:ln w="15875">
            <a:solidFill>
              <a:schemeClr val="tx1"/>
            </a:solidFill>
            <a:prstDash val="solid"/>
          </a:ln>
        </p:spPr>
      </p:sp>
      <p:sp>
        <p:nvSpPr>
          <p:cNvPr id="9" name="block-56"/>
          <p:cNvSpPr txBox="1"/>
          <p:nvPr/>
        </p:nvSpPr>
        <p:spPr>
          <a:xfrm>
            <a:off x="6324448" y="17099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Hotels, transport and meals</a:t>
            </a:r>
            <a:endParaRPr lang="en-US" sz="1600" dirty="0"/>
          </a:p>
          <a:p>
            <a:pPr indent="0" marL="0">
              <a:buNone/>
            </a:pPr>
            <a:r>
              <a:rPr lang="en-US" sz="1400" dirty="0">
                <a:solidFill>
                  <a:schemeClr val="tx2"/>
                </a:solidFill>
              </a:rPr>
              <a:t>Value Group, CMAC Group, HRS, Accommodations Plus (crew), Layover Solutions, Get-e, Uber for Business, Ground Transport Solution</a:t>
            </a:r>
            <a:endParaRPr lang="en-US" sz="1600" dirty="0"/>
          </a:p>
        </p:txBody>
      </p:sp>
      <p:sp>
        <p:nvSpPr>
          <p:cNvPr id="10" name="rule-57"/>
          <p:cNvSpPr/>
          <p:nvPr/>
        </p:nvSpPr>
        <p:spPr>
          <a:xfrm>
            <a:off x="548640" y="2971800"/>
            <a:ext cx="5318608" cy="0"/>
          </a:xfrm>
          <a:prstGeom prst="line">
            <a:avLst/>
          </a:prstGeom>
          <a:noFill/>
          <a:ln w="15875">
            <a:solidFill>
              <a:schemeClr val="tx1"/>
            </a:solidFill>
            <a:prstDash val="solid"/>
          </a:ln>
        </p:spPr>
      </p:sp>
      <p:sp>
        <p:nvSpPr>
          <p:cNvPr id="11" name="block-58"/>
          <p:cNvSpPr txBox="1"/>
          <p:nvPr/>
        </p:nvSpPr>
        <p:spPr>
          <a:xfrm>
            <a:off x="548640" y="30815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Vouchers and payouts</a:t>
            </a:r>
            <a:endParaRPr lang="en-US" sz="1600" dirty="0"/>
          </a:p>
          <a:p>
            <a:pPr indent="0" marL="0">
              <a:buNone/>
            </a:pPr>
            <a:r>
              <a:rPr lang="en-US" sz="1400" dirty="0">
                <a:solidFill>
                  <a:schemeClr val="tx2"/>
                </a:solidFill>
              </a:rPr>
              <a:t>iCoupon (vouchers on the boarding pass), Swiipr (digital payout cards), Tremendous (digital payouts)</a:t>
            </a:r>
            <a:endParaRPr lang="en-US" sz="1600" dirty="0"/>
          </a:p>
        </p:txBody>
      </p:sp>
      <p:sp>
        <p:nvSpPr>
          <p:cNvPr id="12" name="rule-59"/>
          <p:cNvSpPr/>
          <p:nvPr/>
        </p:nvSpPr>
        <p:spPr>
          <a:xfrm>
            <a:off x="6324448" y="2971800"/>
            <a:ext cx="5318608" cy="0"/>
          </a:xfrm>
          <a:prstGeom prst="line">
            <a:avLst/>
          </a:prstGeom>
          <a:noFill/>
          <a:ln w="15875">
            <a:solidFill>
              <a:schemeClr val="tx1"/>
            </a:solidFill>
            <a:prstDash val="solid"/>
          </a:ln>
        </p:spPr>
      </p:sp>
      <p:sp>
        <p:nvSpPr>
          <p:cNvPr id="13" name="block-60"/>
          <p:cNvSpPr txBox="1"/>
          <p:nvPr/>
        </p:nvSpPr>
        <p:spPr>
          <a:xfrm>
            <a:off x="6324448" y="3081528"/>
            <a:ext cx="5318608" cy="11247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Claims and compensation</a:t>
            </a:r>
            <a:endParaRPr lang="en-US" sz="1600" dirty="0"/>
          </a:p>
          <a:p>
            <a:pPr indent="0" marL="0">
              <a:buNone/>
            </a:pPr>
            <a:r>
              <a:rPr lang="en-US" sz="1400" dirty="0">
                <a:solidFill>
                  <a:schemeClr val="tx2"/>
                </a:solidFill>
              </a:rPr>
              <a:t>JUNE (agentic legal ops for EU261, used by Lufthansa and BA), Skycop (passenger claims)</a:t>
            </a:r>
            <a:endParaRPr lang="en-US" sz="1600" dirty="0"/>
          </a:p>
        </p:txBody>
      </p:sp>
      <p:sp>
        <p:nvSpPr>
          <p:cNvPr id="14" name="card-61"/>
          <p:cNvSpPr/>
          <p:nvPr/>
        </p:nvSpPr>
        <p:spPr>
          <a:xfrm>
            <a:off x="548640" y="5394960"/>
            <a:ext cx="11094415" cy="731520"/>
          </a:xfrm>
          <a:prstGeom prst="roundRect">
            <a:avLst>
              <a:gd name="adj" fmla="val 15000"/>
            </a:avLst>
          </a:prstGeom>
          <a:solidFill>
            <a:schemeClr val="bg2"/>
          </a:solidFill>
          <a:ln w="12700">
            <a:solidFill>
              <a:schemeClr val="bg2"/>
            </a:solidFill>
            <a:prstDash val="solid"/>
          </a:ln>
        </p:spPr>
      </p:sp>
      <p:sp>
        <p:nvSpPr>
          <p:cNvPr id="15" name="callout-62"/>
          <p:cNvSpPr txBox="1"/>
          <p:nvPr/>
        </p:nvSpPr>
        <p:spPr>
          <a:xfrm>
            <a:off x="777240" y="5394960"/>
            <a:ext cx="10637215" cy="731520"/>
          </a:xfrm>
          <a:prstGeom prst="rect">
            <a:avLst/>
          </a:prstGeom>
          <a:noFill/>
          <a:ln/>
        </p:spPr>
        <p:txBody>
          <a:bodyPr wrap="square" lIns="0" tIns="0" rIns="0" bIns="0" rtlCol="0" anchor="ctr"/>
          <a:lstStyle/>
          <a:p>
            <a:pPr indent="0" marL="0">
              <a:buNone/>
            </a:pPr>
            <a:r>
              <a:rPr lang="en-US" sz="1400" dirty="0">
                <a:solidFill>
                  <a:schemeClr val="tx1"/>
                </a:solidFill>
              </a:rPr>
              <a:t>Disruption is a market of its own. Add the AI rebooking agents (slide 7) and the ops recovery tools (slide 9), and more than 30 exhibitors sell something for the day a flight is cancelled.</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Flight ops, crew and maintenance</a:t>
            </a:r>
            <a:endParaRPr lang="en-US" sz="3000" dirty="0"/>
          </a:p>
        </p:txBody>
      </p:sp>
      <p:sp>
        <p:nvSpPr>
          <p:cNvPr id="3" name="eyebrow-63"/>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OPERATIONS · FLYING THE SCHEDULE</a:t>
            </a:r>
            <a:endParaRPr lang="en-US" sz="1100" dirty="0"/>
          </a:p>
        </p:txBody>
      </p:sp>
      <p:sp>
        <p:nvSpPr>
          <p:cNvPr id="5" name="count-64"/>
          <p:cNvSpPr txBox="1"/>
          <p:nvPr/>
        </p:nvSpPr>
        <p:spPr>
          <a:xfrm>
            <a:off x="10180015" y="502920"/>
            <a:ext cx="1463040" cy="868680"/>
          </a:xfrm>
          <a:prstGeom prst="rect">
            <a:avLst/>
          </a:prstGeom>
          <a:noFill/>
          <a:ln/>
        </p:spPr>
        <p:txBody>
          <a:bodyPr wrap="square" lIns="0" tIns="0" rIns="0" bIns="0" rtlCol="0" anchor="ctr"/>
          <a:lstStyle/>
          <a:p>
            <a:pPr algn="r" indent="0" marL="0">
              <a:buNone/>
            </a:pPr>
            <a:r>
              <a:rPr lang="en-US" sz="4800" b="1" dirty="0">
                <a:solidFill>
                  <a:schemeClr val="accent1"/>
                </a:solidFill>
                <a:latin typeface="Arial" pitchFamily="34" charset="0"/>
                <a:ea typeface="Arial" pitchFamily="34" charset="-122"/>
                <a:cs typeface="Arial" pitchFamily="34" charset="-120"/>
              </a:rPr>
              <a:t>39</a:t>
            </a:r>
            <a:endParaRPr lang="en-US" sz="4800" dirty="0"/>
          </a:p>
        </p:txBody>
      </p:sp>
      <p:sp>
        <p:nvSpPr>
          <p:cNvPr id="6" name="rule-65"/>
          <p:cNvSpPr/>
          <p:nvPr/>
        </p:nvSpPr>
        <p:spPr>
          <a:xfrm>
            <a:off x="548640" y="1600200"/>
            <a:ext cx="5318608" cy="0"/>
          </a:xfrm>
          <a:prstGeom prst="line">
            <a:avLst/>
          </a:prstGeom>
          <a:noFill/>
          <a:ln w="15875">
            <a:solidFill>
              <a:schemeClr val="tx1"/>
            </a:solidFill>
            <a:prstDash val="solid"/>
          </a:ln>
        </p:spPr>
      </p:sp>
      <p:sp>
        <p:nvSpPr>
          <p:cNvPr id="7" name="block-66"/>
          <p:cNvSpPr txBox="1"/>
          <p:nvPr/>
        </p:nvSpPr>
        <p:spPr>
          <a:xfrm>
            <a:off x="548640" y="170992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Ops control and recovery</a:t>
            </a:r>
            <a:endParaRPr lang="en-US" sz="1600" dirty="0"/>
          </a:p>
          <a:p>
            <a:pPr indent="0" marL="0">
              <a:buNone/>
            </a:pPr>
            <a:r>
              <a:rPr lang="en-US" sz="1400" dirty="0">
                <a:solidFill>
                  <a:schemeClr val="tx2"/>
                </a:solidFill>
              </a:rPr>
              <a:t>Flightscape, stratosX (ranks recovery plans by cost), M2P (Orbit OCC), dCortex, Overwatch AI, Avsos, Opfyx</a:t>
            </a:r>
            <a:endParaRPr lang="en-US" sz="1600" dirty="0"/>
          </a:p>
        </p:txBody>
      </p:sp>
      <p:sp>
        <p:nvSpPr>
          <p:cNvPr id="8" name="rule-67"/>
          <p:cNvSpPr/>
          <p:nvPr/>
        </p:nvSpPr>
        <p:spPr>
          <a:xfrm>
            <a:off x="6324448" y="1600200"/>
            <a:ext cx="5318608" cy="0"/>
          </a:xfrm>
          <a:prstGeom prst="line">
            <a:avLst/>
          </a:prstGeom>
          <a:noFill/>
          <a:ln w="15875">
            <a:solidFill>
              <a:schemeClr val="tx1"/>
            </a:solidFill>
            <a:prstDash val="solid"/>
          </a:ln>
        </p:spPr>
      </p:sp>
      <p:sp>
        <p:nvSpPr>
          <p:cNvPr id="9" name="block-68"/>
          <p:cNvSpPr txBox="1"/>
          <p:nvPr/>
        </p:nvSpPr>
        <p:spPr>
          <a:xfrm>
            <a:off x="6324448" y="170992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Flight planning, EFB and fuel</a:t>
            </a:r>
            <a:endParaRPr lang="en-US" sz="1600" dirty="0"/>
          </a:p>
          <a:p>
            <a:pPr indent="0" marL="0">
              <a:buNone/>
            </a:pPr>
            <a:r>
              <a:rPr lang="en-US" sz="1400" dirty="0">
                <a:solidFill>
                  <a:schemeClr val="tx2"/>
                </a:solidFill>
              </a:rPr>
              <a:t>Jeppesen ForeFlight, Axturis, AVTECH, Vmo, Synapse Aviation, Aerosight (FDM), SureSim, i6 Group, Information Design (aFuel), Waltr, 4JET</a:t>
            </a:r>
            <a:endParaRPr lang="en-US" sz="1600" dirty="0"/>
          </a:p>
        </p:txBody>
      </p:sp>
      <p:sp>
        <p:nvSpPr>
          <p:cNvPr id="10" name="rule-69"/>
          <p:cNvSpPr/>
          <p:nvPr/>
        </p:nvSpPr>
        <p:spPr>
          <a:xfrm>
            <a:off x="548640" y="3108960"/>
            <a:ext cx="5318608" cy="0"/>
          </a:xfrm>
          <a:prstGeom prst="line">
            <a:avLst/>
          </a:prstGeom>
          <a:noFill/>
          <a:ln w="15875">
            <a:solidFill>
              <a:schemeClr val="tx1"/>
            </a:solidFill>
            <a:prstDash val="solid"/>
          </a:ln>
        </p:spPr>
      </p:sp>
      <p:sp>
        <p:nvSpPr>
          <p:cNvPr id="11" name="block-70"/>
          <p:cNvSpPr txBox="1"/>
          <p:nvPr/>
        </p:nvSpPr>
        <p:spPr>
          <a:xfrm>
            <a:off x="548640" y="321868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Crew and workforce</a:t>
            </a:r>
            <a:endParaRPr lang="en-US" sz="1600" dirty="0"/>
          </a:p>
          <a:p>
            <a:pPr indent="0" marL="0">
              <a:buNone/>
            </a:pPr>
            <a:r>
              <a:rPr lang="en-US" sz="1400" dirty="0">
                <a:solidFill>
                  <a:schemeClr val="tx2"/>
                </a:solidFill>
              </a:rPr>
              <a:t>SkAI Tech, JiGSO (roster feedback), NukkAI, AI Crew Solutions, Croowy, XO Scheduler, WePlan, Selira, Kyber Global</a:t>
            </a:r>
            <a:endParaRPr lang="en-US" sz="1600" dirty="0"/>
          </a:p>
        </p:txBody>
      </p:sp>
      <p:sp>
        <p:nvSpPr>
          <p:cNvPr id="12" name="rule-71"/>
          <p:cNvSpPr/>
          <p:nvPr/>
        </p:nvSpPr>
        <p:spPr>
          <a:xfrm>
            <a:off x="6324448" y="3108960"/>
            <a:ext cx="5318608" cy="0"/>
          </a:xfrm>
          <a:prstGeom prst="line">
            <a:avLst/>
          </a:prstGeom>
          <a:noFill/>
          <a:ln w="15875">
            <a:solidFill>
              <a:schemeClr val="tx1"/>
            </a:solidFill>
            <a:prstDash val="solid"/>
          </a:ln>
        </p:spPr>
      </p:sp>
      <p:sp>
        <p:nvSpPr>
          <p:cNvPr id="13" name="block-72"/>
          <p:cNvSpPr txBox="1"/>
          <p:nvPr/>
        </p:nvSpPr>
        <p:spPr>
          <a:xfrm>
            <a:off x="6324448" y="321868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Maintenance, safety and compliance</a:t>
            </a:r>
            <a:endParaRPr lang="en-US" sz="1600" dirty="0"/>
          </a:p>
          <a:p>
            <a:pPr indent="0" marL="0">
              <a:buNone/>
            </a:pPr>
            <a:r>
              <a:rPr lang="en-US" sz="1400" dirty="0">
                <a:solidFill>
                  <a:schemeClr val="tx2"/>
                </a:solidFill>
              </a:rPr>
              <a:t>AERAUT, AEROSENS, Walk-Check, Robot Toolworx, Ideagen, OneReg, GAC Aviation</a:t>
            </a:r>
            <a:endParaRPr lang="en-US" sz="1600" dirty="0"/>
          </a:p>
        </p:txBody>
      </p:sp>
      <p:sp>
        <p:nvSpPr>
          <p:cNvPr id="14" name="rule-73"/>
          <p:cNvSpPr/>
          <p:nvPr/>
        </p:nvSpPr>
        <p:spPr>
          <a:xfrm>
            <a:off x="548640" y="4617720"/>
            <a:ext cx="5318608" cy="0"/>
          </a:xfrm>
          <a:prstGeom prst="line">
            <a:avLst/>
          </a:prstGeom>
          <a:noFill/>
          <a:ln w="15875">
            <a:solidFill>
              <a:schemeClr val="tx1"/>
            </a:solidFill>
            <a:prstDash val="solid"/>
          </a:ln>
        </p:spPr>
      </p:sp>
      <p:sp>
        <p:nvSpPr>
          <p:cNvPr id="15" name="block-74"/>
          <p:cNvSpPr txBox="1"/>
          <p:nvPr/>
        </p:nvSpPr>
        <p:spPr>
          <a:xfrm>
            <a:off x="548640" y="472744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Airline group AI and software houses</a:t>
            </a:r>
            <a:endParaRPr lang="en-US" sz="1600" dirty="0"/>
          </a:p>
          <a:p>
            <a:pPr indent="0" marL="0">
              <a:buNone/>
            </a:pPr>
            <a:r>
              <a:rPr lang="en-US" sz="1400" dirty="0">
                <a:solidFill>
                  <a:schemeClr val="tx2"/>
                </a:solidFill>
              </a:rPr>
              <a:t>zeroG (Lufthansa Group), Trifork (iFly4 crew and turnaround apps)</a:t>
            </a:r>
            <a:endParaRPr lang="en-US" sz="1600" dirty="0"/>
          </a:p>
        </p:txBody>
      </p:sp>
      <p:sp>
        <p:nvSpPr>
          <p:cNvPr id="16" name="rule-75"/>
          <p:cNvSpPr/>
          <p:nvPr/>
        </p:nvSpPr>
        <p:spPr>
          <a:xfrm>
            <a:off x="6324448" y="4617720"/>
            <a:ext cx="5318608" cy="0"/>
          </a:xfrm>
          <a:prstGeom prst="line">
            <a:avLst/>
          </a:prstGeom>
          <a:noFill/>
          <a:ln w="15875">
            <a:solidFill>
              <a:schemeClr val="tx1"/>
            </a:solidFill>
            <a:prstDash val="solid"/>
          </a:ln>
        </p:spPr>
      </p:sp>
      <p:sp>
        <p:nvSpPr>
          <p:cNvPr id="17" name="block-76"/>
          <p:cNvSpPr txBox="1"/>
          <p:nvPr/>
        </p:nvSpPr>
        <p:spPr>
          <a:xfrm>
            <a:off x="6324448" y="472744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To verify at the booth</a:t>
            </a:r>
            <a:endParaRPr lang="en-US" sz="1600" dirty="0"/>
          </a:p>
          <a:p>
            <a:pPr indent="0" marL="0">
              <a:buNone/>
            </a:pPr>
            <a:r>
              <a:rPr lang="en-US" sz="1400" dirty="0">
                <a:solidFill>
                  <a:schemeClr val="tx2"/>
                </a:solidFill>
              </a:rPr>
              <a:t>Engineering Insights, Free Flight Technology, Sky Support AI</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Airport, ground ops and baggage</a:t>
            </a:r>
            <a:endParaRPr lang="en-US" sz="3000" dirty="0"/>
          </a:p>
        </p:txBody>
      </p:sp>
      <p:sp>
        <p:nvSpPr>
          <p:cNvPr id="3" name="eyebrow-77"/>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OPERATIONS · ON THE GROUND</a:t>
            </a:r>
            <a:endParaRPr lang="en-US" sz="1100" dirty="0"/>
          </a:p>
        </p:txBody>
      </p:sp>
      <p:sp>
        <p:nvSpPr>
          <p:cNvPr id="5" name="count-78"/>
          <p:cNvSpPr txBox="1"/>
          <p:nvPr/>
        </p:nvSpPr>
        <p:spPr>
          <a:xfrm>
            <a:off x="10180015" y="502920"/>
            <a:ext cx="1463040" cy="868680"/>
          </a:xfrm>
          <a:prstGeom prst="rect">
            <a:avLst/>
          </a:prstGeom>
          <a:noFill/>
          <a:ln/>
        </p:spPr>
        <p:txBody>
          <a:bodyPr wrap="square" lIns="0" tIns="0" rIns="0" bIns="0" rtlCol="0" anchor="ctr"/>
          <a:lstStyle/>
          <a:p>
            <a:pPr algn="r" indent="0" marL="0">
              <a:buNone/>
            </a:pPr>
            <a:r>
              <a:rPr lang="en-US" sz="4800" b="1" dirty="0">
                <a:solidFill>
                  <a:schemeClr val="accent1"/>
                </a:solidFill>
                <a:latin typeface="Arial" pitchFamily="34" charset="0"/>
                <a:ea typeface="Arial" pitchFamily="34" charset="-122"/>
                <a:cs typeface="Arial" pitchFamily="34" charset="-120"/>
              </a:rPr>
              <a:t>38</a:t>
            </a:r>
            <a:endParaRPr lang="en-US" sz="4800" dirty="0"/>
          </a:p>
        </p:txBody>
      </p:sp>
      <p:sp>
        <p:nvSpPr>
          <p:cNvPr id="6" name="rule-79"/>
          <p:cNvSpPr/>
          <p:nvPr/>
        </p:nvSpPr>
        <p:spPr>
          <a:xfrm>
            <a:off x="548640" y="1600200"/>
            <a:ext cx="5318608" cy="0"/>
          </a:xfrm>
          <a:prstGeom prst="line">
            <a:avLst/>
          </a:prstGeom>
          <a:noFill/>
          <a:ln w="15875">
            <a:solidFill>
              <a:schemeClr val="tx1"/>
            </a:solidFill>
            <a:prstDash val="solid"/>
          </a:ln>
        </p:spPr>
      </p:sp>
      <p:sp>
        <p:nvSpPr>
          <p:cNvPr id="7" name="block-80"/>
          <p:cNvSpPr txBox="1"/>
          <p:nvPr/>
        </p:nvSpPr>
        <p:spPr>
          <a:xfrm>
            <a:off x="548640" y="170992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Turnaround and apron AI</a:t>
            </a:r>
            <a:endParaRPr lang="en-US" sz="1600" dirty="0"/>
          </a:p>
          <a:p>
            <a:pPr indent="0" marL="0">
              <a:buNone/>
            </a:pPr>
            <a:r>
              <a:rPr lang="en-US" sz="1400" dirty="0">
                <a:solidFill>
                  <a:schemeClr val="tx2"/>
                </a:solidFill>
              </a:rPr>
              <a:t>Assaia, ZestIoT, Synaptic Aviation, Tarmac Technologies, Moonware (HALO), easie by ICRON, Cosmos (ground ops SLAs)</a:t>
            </a:r>
            <a:endParaRPr lang="en-US" sz="1600" dirty="0"/>
          </a:p>
        </p:txBody>
      </p:sp>
      <p:sp>
        <p:nvSpPr>
          <p:cNvPr id="8" name="rule-81"/>
          <p:cNvSpPr/>
          <p:nvPr/>
        </p:nvSpPr>
        <p:spPr>
          <a:xfrm>
            <a:off x="6324448" y="1600200"/>
            <a:ext cx="5318608" cy="0"/>
          </a:xfrm>
          <a:prstGeom prst="line">
            <a:avLst/>
          </a:prstGeom>
          <a:noFill/>
          <a:ln w="15875">
            <a:solidFill>
              <a:schemeClr val="tx1"/>
            </a:solidFill>
            <a:prstDash val="solid"/>
          </a:ln>
        </p:spPr>
      </p:sp>
      <p:sp>
        <p:nvSpPr>
          <p:cNvPr id="9" name="block-82"/>
          <p:cNvSpPr txBox="1"/>
          <p:nvPr/>
        </p:nvSpPr>
        <p:spPr>
          <a:xfrm>
            <a:off x="6324448" y="170992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Baggage</a:t>
            </a:r>
            <a:endParaRPr lang="en-US" sz="1600" dirty="0"/>
          </a:p>
          <a:p>
            <a:pPr indent="0" marL="0">
              <a:buNone/>
            </a:pPr>
            <a:r>
              <a:rPr lang="en-US" sz="1400" dirty="0">
                <a:solidFill>
                  <a:schemeClr val="tx2"/>
                </a:solidFill>
              </a:rPr>
              <a:t>BAGTAG, BagID (RFID), Alltheway (off-airport check-in), Reclaim, PixoAnalytics, DAITY, Azalea Robotics, ReLUGG</a:t>
            </a:r>
            <a:endParaRPr lang="en-US" sz="1600" dirty="0"/>
          </a:p>
        </p:txBody>
      </p:sp>
      <p:sp>
        <p:nvSpPr>
          <p:cNvPr id="10" name="rule-83"/>
          <p:cNvSpPr/>
          <p:nvPr/>
        </p:nvSpPr>
        <p:spPr>
          <a:xfrm>
            <a:off x="548640" y="3108960"/>
            <a:ext cx="5318608" cy="0"/>
          </a:xfrm>
          <a:prstGeom prst="line">
            <a:avLst/>
          </a:prstGeom>
          <a:noFill/>
          <a:ln w="15875">
            <a:solidFill>
              <a:schemeClr val="tx1"/>
            </a:solidFill>
            <a:prstDash val="solid"/>
          </a:ln>
        </p:spPr>
      </p:sp>
      <p:sp>
        <p:nvSpPr>
          <p:cNvPr id="11" name="block-84"/>
          <p:cNvSpPr txBox="1"/>
          <p:nvPr/>
        </p:nvSpPr>
        <p:spPr>
          <a:xfrm>
            <a:off x="548640" y="321868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Check-in, boarding, identity and documents</a:t>
            </a:r>
            <a:endParaRPr lang="en-US" sz="1600" dirty="0"/>
          </a:p>
          <a:p>
            <a:pPr indent="0" marL="0">
              <a:buNone/>
            </a:pPr>
            <a:r>
              <a:rPr lang="en-US" sz="1400" dirty="0">
                <a:solidFill>
                  <a:schemeClr val="tx2"/>
                </a:solidFill>
              </a:rPr>
              <a:t>CLEAR, Objective, ABOMIS, Aptaero, T/Form x Ink, Gate Stream, Stand-By, ICTS (TravelDoc), PnrGo, iboardings</a:t>
            </a:r>
            <a:endParaRPr lang="en-US" sz="1600" dirty="0"/>
          </a:p>
        </p:txBody>
      </p:sp>
      <p:sp>
        <p:nvSpPr>
          <p:cNvPr id="12" name="rule-85"/>
          <p:cNvSpPr/>
          <p:nvPr/>
        </p:nvSpPr>
        <p:spPr>
          <a:xfrm>
            <a:off x="6324448" y="3108960"/>
            <a:ext cx="5318608" cy="0"/>
          </a:xfrm>
          <a:prstGeom prst="line">
            <a:avLst/>
          </a:prstGeom>
          <a:noFill/>
          <a:ln w="15875">
            <a:solidFill>
              <a:schemeClr val="tx1"/>
            </a:solidFill>
            <a:prstDash val="solid"/>
          </a:ln>
        </p:spPr>
      </p:sp>
      <p:sp>
        <p:nvSpPr>
          <p:cNvPr id="13" name="block-86"/>
          <p:cNvSpPr txBox="1"/>
          <p:nvPr/>
        </p:nvSpPr>
        <p:spPr>
          <a:xfrm>
            <a:off x="6324448" y="3218688"/>
            <a:ext cx="5318608"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Wayfinding, accessibility and lounges</a:t>
            </a:r>
            <a:endParaRPr lang="en-US" sz="1600" dirty="0"/>
          </a:p>
          <a:p>
            <a:pPr indent="0" marL="0">
              <a:buNone/>
            </a:pPr>
            <a:r>
              <a:rPr lang="en-US" sz="1400" dirty="0">
                <a:solidFill>
                  <a:schemeClr val="tx2"/>
                </a:solidFill>
              </a:rPr>
              <a:t>Atrius, Wemap, aryve, Ostrum PRM, Airport Dimensions, Plaza Premium Group</a:t>
            </a:r>
            <a:endParaRPr lang="en-US" sz="1600" dirty="0"/>
          </a:p>
        </p:txBody>
      </p:sp>
      <p:sp>
        <p:nvSpPr>
          <p:cNvPr id="14" name="rule-87"/>
          <p:cNvSpPr/>
          <p:nvPr/>
        </p:nvSpPr>
        <p:spPr>
          <a:xfrm>
            <a:off x="548640" y="4617720"/>
            <a:ext cx="11094415" cy="0"/>
          </a:xfrm>
          <a:prstGeom prst="line">
            <a:avLst/>
          </a:prstGeom>
          <a:noFill/>
          <a:ln w="15875">
            <a:solidFill>
              <a:schemeClr val="tx1"/>
            </a:solidFill>
            <a:prstDash val="solid"/>
          </a:ln>
        </p:spPr>
      </p:sp>
      <p:sp>
        <p:nvSpPr>
          <p:cNvPr id="15" name="block-88"/>
          <p:cNvSpPr txBox="1"/>
          <p:nvPr/>
        </p:nvSpPr>
        <p:spPr>
          <a:xfrm>
            <a:off x="548640" y="4727448"/>
            <a:ext cx="11094415" cy="126187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latin typeface="Arial" pitchFamily="34" charset="0"/>
                <a:ea typeface="Arial" pitchFamily="34" charset="-122"/>
                <a:cs typeface="Arial" pitchFamily="34" charset="-120"/>
              </a:rPr>
              <a:t>Training, networks, security and weather</a:t>
            </a:r>
            <a:endParaRPr lang="en-US" sz="1600" dirty="0"/>
          </a:p>
          <a:p>
            <a:pPr indent="0" marL="0">
              <a:buNone/>
            </a:pPr>
            <a:r>
              <a:rPr lang="en-US" sz="1400" dirty="0">
                <a:solidFill>
                  <a:schemeClr val="tx2"/>
                </a:solidFill>
              </a:rPr>
              <a:t>Draxon (VR ground-handling training), Aveo (airside driving simulator), Ericsson (private 5G), Secure Horizons, Buluttan and Airside Labs (weather), Intellicene (connected airport data)</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The cabin, and the data underneath it all</a:t>
            </a:r>
            <a:endParaRPr lang="en-US" sz="3000" dirty="0"/>
          </a:p>
        </p:txBody>
      </p:sp>
      <p:sp>
        <p:nvSpPr>
          <p:cNvPr id="3" name="eyebrow-89"/>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OPERATIONS AND ENABLERS</a:t>
            </a:r>
            <a:endParaRPr lang="en-US" sz="1100" dirty="0"/>
          </a:p>
        </p:txBody>
      </p:sp>
      <p:sp>
        <p:nvSpPr>
          <p:cNvPr id="5" name="colhead-90"/>
          <p:cNvSpPr txBox="1"/>
          <p:nvPr/>
        </p:nvSpPr>
        <p:spPr>
          <a:xfrm>
            <a:off x="548640"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19</a:t>
            </a:r>
            <a:pPr indent="0" marL="0">
              <a:buNone/>
            </a:pPr>
            <a:r>
              <a:rPr lang="en-US" sz="1800" b="1" dirty="0">
                <a:solidFill>
                  <a:schemeClr val="tx1"/>
                </a:solidFill>
                <a:latin typeface="Arial" pitchFamily="34" charset="0"/>
                <a:ea typeface="Arial" pitchFamily="34" charset="-122"/>
                <a:cs typeface="Arial" pitchFamily="34" charset="-120"/>
              </a:rPr>
              <a:t>   Onboard: IFEC, connectivity and retail</a:t>
            </a:r>
            <a:endParaRPr lang="en-US" sz="3000" dirty="0"/>
          </a:p>
        </p:txBody>
      </p:sp>
      <p:sp>
        <p:nvSpPr>
          <p:cNvPr id="6" name="rule-91"/>
          <p:cNvSpPr/>
          <p:nvPr/>
        </p:nvSpPr>
        <p:spPr>
          <a:xfrm>
            <a:off x="548640" y="2167128"/>
            <a:ext cx="5318608" cy="0"/>
          </a:xfrm>
          <a:prstGeom prst="line">
            <a:avLst/>
          </a:prstGeom>
          <a:noFill/>
          <a:ln w="15875">
            <a:solidFill>
              <a:schemeClr val="tx1"/>
            </a:solidFill>
            <a:prstDash val="solid"/>
          </a:ln>
        </p:spPr>
      </p:sp>
      <p:sp>
        <p:nvSpPr>
          <p:cNvPr id="7" name="segs-92"/>
          <p:cNvSpPr txBox="1"/>
          <p:nvPr/>
        </p:nvSpPr>
        <p:spPr>
          <a:xfrm>
            <a:off x="548640"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Entertainment and connectivity</a:t>
            </a:r>
            <a:endParaRPr lang="en-US" sz="1400" dirty="0"/>
          </a:p>
          <a:p>
            <a:pPr indent="0" marL="0">
              <a:spcAft>
                <a:spcPts val="900"/>
              </a:spcAft>
              <a:buNone/>
            </a:pPr>
            <a:r>
              <a:rPr lang="en-US" sz="1400" dirty="0">
                <a:solidFill>
                  <a:schemeClr val="tx2"/>
                </a:solidFill>
              </a:rPr>
              <a:t>Panasonic Avionics, Thales, Viasat, SES (multi-orbit Wi-Fi), RAVE, Axinom, Conetic, Moment, Quvia, Expereo</a:t>
            </a:r>
            <a:endParaRPr lang="en-US" sz="1400" dirty="0"/>
          </a:p>
          <a:p>
            <a:pPr indent="0" marL="0">
              <a:buNone/>
            </a:pPr>
            <a:r>
              <a:rPr lang="en-US" sz="1400" b="1" dirty="0">
                <a:solidFill>
                  <a:schemeClr val="tx1"/>
                </a:solidFill>
              </a:rPr>
              <a:t>Onboard retail and catering</a:t>
            </a:r>
            <a:endParaRPr lang="en-US" sz="1400" dirty="0"/>
          </a:p>
          <a:p>
            <a:pPr indent="0" marL="0">
              <a:spcAft>
                <a:spcPts val="900"/>
              </a:spcAft>
              <a:buNone/>
            </a:pPr>
            <a:r>
              <a:rPr lang="en-US" sz="1400" dirty="0">
                <a:solidFill>
                  <a:schemeClr val="tx2"/>
                </a:solidFill>
              </a:rPr>
              <a:t>Immfly, Altura, AEROMOND (order to seat), Viktio (AI loading), LimeFlight, Paxia, Onboard Retail</a:t>
            </a:r>
            <a:endParaRPr lang="en-US" sz="1400" dirty="0"/>
          </a:p>
          <a:p>
            <a:pPr indent="0" marL="0">
              <a:buNone/>
            </a:pPr>
            <a:r>
              <a:rPr lang="en-US" sz="1400" b="1" dirty="0">
                <a:solidFill>
                  <a:schemeClr val="tx1"/>
                </a:solidFill>
              </a:rPr>
              <a:t>Cabin experience</a:t>
            </a:r>
            <a:endParaRPr lang="en-US" sz="1400" dirty="0"/>
          </a:p>
          <a:p>
            <a:pPr indent="0" marL="0">
              <a:spcAft>
                <a:spcPts val="900"/>
              </a:spcAft>
              <a:buNone/>
            </a:pPr>
            <a:r>
              <a:rPr lang="en-US" sz="1400" dirty="0">
                <a:solidFill>
                  <a:schemeClr val="tx2"/>
                </a:solidFill>
              </a:rPr>
              <a:t>InovativAI (live captions and translation), Virtuwella (VR wellbeing)</a:t>
            </a:r>
            <a:endParaRPr lang="en-US" sz="1400" dirty="0"/>
          </a:p>
        </p:txBody>
      </p:sp>
      <p:sp>
        <p:nvSpPr>
          <p:cNvPr id="8" name="colhead-93"/>
          <p:cNvSpPr txBox="1"/>
          <p:nvPr/>
        </p:nvSpPr>
        <p:spPr>
          <a:xfrm>
            <a:off x="6324448"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23</a:t>
            </a:r>
            <a:pPr indent="0" marL="0">
              <a:buNone/>
            </a:pPr>
            <a:r>
              <a:rPr lang="en-US" sz="1800" b="1" dirty="0">
                <a:solidFill>
                  <a:schemeClr val="tx1"/>
                </a:solidFill>
                <a:latin typeface="Arial" pitchFamily="34" charset="0"/>
                <a:ea typeface="Arial" pitchFamily="34" charset="-122"/>
                <a:cs typeface="Arial" pitchFamily="34" charset="-120"/>
              </a:rPr>
              <a:t>   Data, analytics and AI platforms</a:t>
            </a:r>
            <a:endParaRPr lang="en-US" sz="3000" dirty="0"/>
          </a:p>
        </p:txBody>
      </p:sp>
      <p:sp>
        <p:nvSpPr>
          <p:cNvPr id="9" name="rule-94"/>
          <p:cNvSpPr/>
          <p:nvPr/>
        </p:nvSpPr>
        <p:spPr>
          <a:xfrm>
            <a:off x="6324448" y="2167128"/>
            <a:ext cx="5318608" cy="0"/>
          </a:xfrm>
          <a:prstGeom prst="line">
            <a:avLst/>
          </a:prstGeom>
          <a:noFill/>
          <a:ln w="15875">
            <a:solidFill>
              <a:schemeClr val="tx1"/>
            </a:solidFill>
            <a:prstDash val="solid"/>
          </a:ln>
        </p:spPr>
      </p:sp>
      <p:sp>
        <p:nvSpPr>
          <p:cNvPr id="10" name="segs-95"/>
          <p:cNvSpPr txBox="1"/>
          <p:nvPr/>
        </p:nvSpPr>
        <p:spPr>
          <a:xfrm>
            <a:off x="6324448" y="2286000"/>
            <a:ext cx="5318608" cy="3886200"/>
          </a:xfrm>
          <a:prstGeom prst="rect">
            <a:avLst/>
          </a:prstGeom>
          <a:noFill/>
          <a:ln/>
        </p:spPr>
        <p:txBody>
          <a:bodyPr wrap="square" lIns="0" tIns="0" rIns="0" bIns="0" rtlCol="0" anchor="t"/>
          <a:lstStyle/>
          <a:p>
            <a:pPr indent="0" marL="0">
              <a:buNone/>
            </a:pPr>
            <a:r>
              <a:rPr lang="en-US" sz="1400" b="1" dirty="0">
                <a:solidFill>
                  <a:schemeClr val="tx1"/>
                </a:solidFill>
              </a:rPr>
              <a:t>Flight, schedule and sales data</a:t>
            </a:r>
            <a:endParaRPr lang="en-US" sz="1400" dirty="0"/>
          </a:p>
          <a:p>
            <a:pPr indent="0" marL="0">
              <a:spcAft>
                <a:spcPts val="900"/>
              </a:spcAft>
              <a:buNone/>
            </a:pPr>
            <a:r>
              <a:rPr lang="en-US" sz="1400" dirty="0">
                <a:solidFill>
                  <a:schemeClr val="tx2"/>
                </a:solidFill>
              </a:rPr>
              <a:t>Cirium, OAG, Spire Aviation and Wingbits (ADS-B), VariFlight, BSPConnect</a:t>
            </a:r>
            <a:endParaRPr lang="en-US" sz="1400" dirty="0"/>
          </a:p>
          <a:p>
            <a:pPr indent="0" marL="0">
              <a:buNone/>
            </a:pPr>
            <a:r>
              <a:rPr lang="en-US" sz="1400" b="1" dirty="0">
                <a:solidFill>
                  <a:schemeClr val="tx1"/>
                </a:solidFill>
              </a:rPr>
              <a:t>Analytics and AI platforms</a:t>
            </a:r>
            <a:endParaRPr lang="en-US" sz="1400" dirty="0"/>
          </a:p>
          <a:p>
            <a:pPr indent="0" marL="0">
              <a:spcAft>
                <a:spcPts val="900"/>
              </a:spcAft>
              <a:buNone/>
            </a:pPr>
            <a:r>
              <a:rPr lang="en-US" sz="1400" dirty="0">
                <a:solidFill>
                  <a:schemeClr val="tx2"/>
                </a:solidFill>
              </a:rPr>
              <a:t>ThoughtSpot (agentic analytics), TCG Digital (mcube), Inspire AI, Glorium, Emu Analytics, Jambo Labs</a:t>
            </a:r>
            <a:endParaRPr lang="en-US" sz="1400" dirty="0"/>
          </a:p>
          <a:p>
            <a:pPr indent="0" marL="0">
              <a:buNone/>
            </a:pPr>
            <a:r>
              <a:rPr lang="en-US" sz="1400" b="1" dirty="0">
                <a:solidFill>
                  <a:schemeClr val="tx1"/>
                </a:solidFill>
              </a:rPr>
              <a:t>Testing AI and apps</a:t>
            </a:r>
            <a:endParaRPr lang="en-US" sz="1400" dirty="0"/>
          </a:p>
          <a:p>
            <a:pPr indent="0" marL="0">
              <a:spcAft>
                <a:spcPts val="900"/>
              </a:spcAft>
              <a:buNone/>
            </a:pPr>
            <a:r>
              <a:rPr lang="en-US" sz="1400" dirty="0">
                <a:solidFill>
                  <a:schemeClr val="tx2"/>
                </a:solidFill>
              </a:rPr>
              <a:t>Spur (AI agents that test booking flows), TestSolutions</a:t>
            </a:r>
            <a:endParaRPr lang="en-US" sz="1400" dirty="0"/>
          </a:p>
          <a:p>
            <a:pPr indent="0" marL="0">
              <a:buNone/>
            </a:pPr>
            <a:r>
              <a:rPr lang="en-US" sz="1400" b="1" dirty="0">
                <a:solidFill>
                  <a:schemeClr val="tx1"/>
                </a:solidFill>
              </a:rPr>
              <a:t>To verify at the booth (no public description)</a:t>
            </a:r>
            <a:endParaRPr lang="en-US" sz="1400" dirty="0"/>
          </a:p>
          <a:p>
            <a:pPr indent="0" marL="0">
              <a:spcAft>
                <a:spcPts val="900"/>
              </a:spcAft>
              <a:buNone/>
            </a:pPr>
            <a:r>
              <a:rPr lang="en-US" sz="1400" dirty="0">
                <a:solidFill>
                  <a:schemeClr val="tx2"/>
                </a:solidFill>
              </a:rPr>
              <a:t>DUBZ, Motulus.aero, NUMARQE, Red Dogfish, VeeOne, VegaSpark, Oxcart, Modern Legacy, Autonoma</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Integrators, advisers and the wider industry</a:t>
            </a:r>
            <a:endParaRPr lang="en-US" sz="3000" dirty="0"/>
          </a:p>
        </p:txBody>
      </p:sp>
      <p:sp>
        <p:nvSpPr>
          <p:cNvPr id="3" name="eyebrow-96"/>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ENABLERS AND ECOSYSTEM</a:t>
            </a:r>
            <a:endParaRPr lang="en-US" sz="1100" dirty="0"/>
          </a:p>
        </p:txBody>
      </p:sp>
      <p:sp>
        <p:nvSpPr>
          <p:cNvPr id="5" name="colhead-97"/>
          <p:cNvSpPr txBox="1"/>
          <p:nvPr/>
        </p:nvSpPr>
        <p:spPr>
          <a:xfrm>
            <a:off x="548640"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35</a:t>
            </a:r>
            <a:pPr indent="0" marL="0">
              <a:buNone/>
            </a:pPr>
            <a:r>
              <a:rPr lang="en-US" sz="1800" b="1" dirty="0">
                <a:solidFill>
                  <a:schemeClr val="tx1"/>
                </a:solidFill>
                <a:latin typeface="Arial" pitchFamily="34" charset="0"/>
                <a:ea typeface="Arial" pitchFamily="34" charset="-122"/>
                <a:cs typeface="Arial" pitchFamily="34" charset="-120"/>
              </a:rPr>
              <a:t>   Consultancies, IT services and big tech</a:t>
            </a:r>
            <a:endParaRPr lang="en-US" sz="3000" dirty="0"/>
          </a:p>
        </p:txBody>
      </p:sp>
      <p:sp>
        <p:nvSpPr>
          <p:cNvPr id="6" name="rule-98"/>
          <p:cNvSpPr/>
          <p:nvPr/>
        </p:nvSpPr>
        <p:spPr>
          <a:xfrm>
            <a:off x="548640" y="2167128"/>
            <a:ext cx="5318608" cy="0"/>
          </a:xfrm>
          <a:prstGeom prst="line">
            <a:avLst/>
          </a:prstGeom>
          <a:noFill/>
          <a:ln w="15875">
            <a:solidFill>
              <a:schemeClr val="tx1"/>
            </a:solidFill>
            <a:prstDash val="solid"/>
          </a:ln>
        </p:spPr>
      </p:sp>
      <p:sp>
        <p:nvSpPr>
          <p:cNvPr id="7" name="segs-99"/>
          <p:cNvSpPr txBox="1"/>
          <p:nvPr/>
        </p:nvSpPr>
        <p:spPr>
          <a:xfrm>
            <a:off x="548640" y="2286000"/>
            <a:ext cx="5318608" cy="3886200"/>
          </a:xfrm>
          <a:prstGeom prst="rect">
            <a:avLst/>
          </a:prstGeom>
          <a:noFill/>
          <a:ln/>
        </p:spPr>
        <p:txBody>
          <a:bodyPr wrap="square" lIns="0" tIns="0" rIns="0" bIns="0" rtlCol="0" anchor="t"/>
          <a:lstStyle/>
          <a:p>
            <a:pPr indent="0" marL="0">
              <a:buNone/>
            </a:pPr>
            <a:r>
              <a:rPr lang="en-US" sz="1300" b="1" dirty="0">
                <a:solidFill>
                  <a:schemeClr val="tx1"/>
                </a:solidFill>
              </a:rPr>
              <a:t>Cloud and big tech</a:t>
            </a:r>
            <a:endParaRPr lang="en-US" sz="1300" dirty="0"/>
          </a:p>
          <a:p>
            <a:pPr indent="0" marL="0">
              <a:spcAft>
                <a:spcPts val="900"/>
              </a:spcAft>
              <a:buNone/>
            </a:pPr>
            <a:r>
              <a:rPr lang="en-US" sz="1300" dirty="0">
                <a:solidFill>
                  <a:schemeClr val="tx2"/>
                </a:solidFill>
              </a:rPr>
              <a:t>AWS, Microsoft, IBM</a:t>
            </a:r>
            <a:endParaRPr lang="en-US" sz="1300" dirty="0"/>
          </a:p>
          <a:p>
            <a:pPr indent="0" marL="0">
              <a:buNone/>
            </a:pPr>
            <a:r>
              <a:rPr lang="en-US" sz="1300" b="1" dirty="0">
                <a:solidFill>
                  <a:schemeClr val="tx1"/>
                </a:solidFill>
              </a:rPr>
              <a:t>IT services and engineering</a:t>
            </a:r>
            <a:endParaRPr lang="en-US" sz="1300" dirty="0"/>
          </a:p>
          <a:p>
            <a:pPr indent="0" marL="0">
              <a:spcAft>
                <a:spcPts val="900"/>
              </a:spcAft>
              <a:buNone/>
            </a:pPr>
            <a:r>
              <a:rPr lang="en-US" sz="1300" dirty="0">
                <a:solidFill>
                  <a:schemeClr val="tx2"/>
                </a:solidFill>
              </a:rPr>
              <a:t>Infosys, HCLTech, Coforge, DXC, Endava, Nagarro, DataArt, Softtek, Minsait, Dreamix, Amach, Commencis, Lufthansa Industry Solutions, Infor</a:t>
            </a:r>
            <a:endParaRPr lang="en-US" sz="1300" dirty="0"/>
          </a:p>
          <a:p>
            <a:pPr indent="0" marL="0">
              <a:buNone/>
            </a:pPr>
            <a:r>
              <a:rPr lang="en-US" sz="1300" b="1" dirty="0">
                <a:solidFill>
                  <a:schemeClr val="tx1"/>
                </a:solidFill>
              </a:rPr>
              <a:t>BPO and CX operations</a:t>
            </a:r>
            <a:endParaRPr lang="en-US" sz="1300" dirty="0"/>
          </a:p>
          <a:p>
            <a:pPr indent="0" marL="0">
              <a:spcAft>
                <a:spcPts val="900"/>
              </a:spcAft>
              <a:buNone/>
            </a:pPr>
            <a:r>
              <a:rPr lang="en-US" sz="1300" dirty="0">
                <a:solidFill>
                  <a:schemeClr val="tx2"/>
                </a:solidFill>
              </a:rPr>
              <a:t>WNS, Sutherland</a:t>
            </a:r>
            <a:endParaRPr lang="en-US" sz="1300" dirty="0"/>
          </a:p>
          <a:p>
            <a:pPr indent="0" marL="0">
              <a:buNone/>
            </a:pPr>
            <a:r>
              <a:rPr lang="en-US" sz="1300" b="1" dirty="0">
                <a:solidFill>
                  <a:schemeClr val="tx1"/>
                </a:solidFill>
              </a:rPr>
              <a:t>Consulting and advisory</a:t>
            </a:r>
            <a:endParaRPr lang="en-US" sz="1300" dirty="0"/>
          </a:p>
          <a:p>
            <a:pPr indent="0" marL="0">
              <a:spcAft>
                <a:spcPts val="900"/>
              </a:spcAft>
              <a:buNone/>
            </a:pPr>
            <a:r>
              <a:rPr lang="en-US" sz="1300" dirty="0">
                <a:solidFill>
                  <a:schemeClr val="tx2"/>
                </a:solidFill>
              </a:rPr>
              <a:t>Deloitte, Publicis Sapient, ZS, Berkeley Partnership, T2RL, Branchspace, Back9, Telcotrend, Andriyanov &amp; Partner, Travel In Motion, Out of Limits, Airplane Solutions</a:t>
            </a:r>
            <a:endParaRPr lang="en-US" sz="1300" dirty="0"/>
          </a:p>
          <a:p>
            <a:pPr indent="0" marL="0">
              <a:buNone/>
            </a:pPr>
            <a:r>
              <a:rPr lang="en-US" sz="1300" b="1" dirty="0">
                <a:solidFill>
                  <a:schemeClr val="tx1"/>
                </a:solidFill>
              </a:rPr>
              <a:t>Startup services and innovation</a:t>
            </a:r>
            <a:endParaRPr lang="en-US" sz="1300" dirty="0"/>
          </a:p>
          <a:p>
            <a:pPr indent="0" marL="0">
              <a:spcAft>
                <a:spcPts val="900"/>
              </a:spcAft>
              <a:buNone/>
            </a:pPr>
            <a:r>
              <a:rPr lang="en-US" sz="1300" dirty="0">
                <a:solidFill>
                  <a:schemeClr val="tx2"/>
                </a:solidFill>
              </a:rPr>
              <a:t>The Sales Copilots, THINKINK (PR), Beta-i, plus Prologis (to verify)</a:t>
            </a:r>
            <a:endParaRPr lang="en-US" sz="1300" dirty="0"/>
          </a:p>
        </p:txBody>
      </p:sp>
      <p:sp>
        <p:nvSpPr>
          <p:cNvPr id="8" name="colhead-100"/>
          <p:cNvSpPr txBox="1"/>
          <p:nvPr/>
        </p:nvSpPr>
        <p:spPr>
          <a:xfrm>
            <a:off x="6324448" y="1600200"/>
            <a:ext cx="5318608" cy="502920"/>
          </a:xfrm>
          <a:prstGeom prst="rect">
            <a:avLst/>
          </a:prstGeom>
          <a:noFill/>
          <a:ln/>
        </p:spPr>
        <p:txBody>
          <a:bodyPr wrap="square" lIns="0" tIns="0" rIns="0" bIns="0" rtlCol="0" anchor="b"/>
          <a:lstStyle/>
          <a:p>
            <a:pPr indent="0" marL="0">
              <a:buNone/>
            </a:pPr>
            <a:r>
              <a:rPr lang="en-US" sz="3000" b="1" dirty="0">
                <a:solidFill>
                  <a:schemeClr val="accent1"/>
                </a:solidFill>
                <a:latin typeface="Arial" pitchFamily="34" charset="0"/>
                <a:ea typeface="Arial" pitchFamily="34" charset="-122"/>
                <a:cs typeface="Arial" pitchFamily="34" charset="-120"/>
              </a:rPr>
              <a:t>33</a:t>
            </a:r>
            <a:pPr indent="0" marL="0">
              <a:buNone/>
            </a:pPr>
            <a:r>
              <a:rPr lang="en-US" sz="1800" b="1" dirty="0">
                <a:solidFill>
                  <a:schemeClr val="tx1"/>
                </a:solidFill>
                <a:latin typeface="Arial" pitchFamily="34" charset="0"/>
                <a:ea typeface="Arial" pitchFamily="34" charset="-122"/>
                <a:cs typeface="Arial" pitchFamily="34" charset="-120"/>
              </a:rPr>
              <a:t>   Airlines, OEMs, bodies, investors, media</a:t>
            </a:r>
            <a:endParaRPr lang="en-US" sz="3000" dirty="0"/>
          </a:p>
        </p:txBody>
      </p:sp>
      <p:sp>
        <p:nvSpPr>
          <p:cNvPr id="9" name="rule-101"/>
          <p:cNvSpPr/>
          <p:nvPr/>
        </p:nvSpPr>
        <p:spPr>
          <a:xfrm>
            <a:off x="6324448" y="2167128"/>
            <a:ext cx="5318608" cy="0"/>
          </a:xfrm>
          <a:prstGeom prst="line">
            <a:avLst/>
          </a:prstGeom>
          <a:noFill/>
          <a:ln w="15875">
            <a:solidFill>
              <a:schemeClr val="tx1"/>
            </a:solidFill>
            <a:prstDash val="solid"/>
          </a:ln>
        </p:spPr>
      </p:sp>
      <p:sp>
        <p:nvSpPr>
          <p:cNvPr id="10" name="segs-102"/>
          <p:cNvSpPr txBox="1"/>
          <p:nvPr/>
        </p:nvSpPr>
        <p:spPr>
          <a:xfrm>
            <a:off x="6324448" y="2286000"/>
            <a:ext cx="5318608" cy="3886200"/>
          </a:xfrm>
          <a:prstGeom prst="rect">
            <a:avLst/>
          </a:prstGeom>
          <a:noFill/>
          <a:ln/>
        </p:spPr>
        <p:txBody>
          <a:bodyPr wrap="square" lIns="0" tIns="0" rIns="0" bIns="0" rtlCol="0" anchor="t"/>
          <a:lstStyle/>
          <a:p>
            <a:pPr indent="0" marL="0">
              <a:buNone/>
            </a:pPr>
            <a:r>
              <a:rPr lang="en-US" sz="1300" b="1" dirty="0">
                <a:solidFill>
                  <a:schemeClr val="tx1"/>
                </a:solidFill>
              </a:rPr>
              <a:t>Airlines, alliances, airports and handlers</a:t>
            </a:r>
            <a:endParaRPr lang="en-US" sz="1300" dirty="0"/>
          </a:p>
          <a:p>
            <a:pPr indent="0" marL="0">
              <a:spcAft>
                <a:spcPts val="900"/>
              </a:spcAft>
              <a:buNone/>
            </a:pPr>
            <a:r>
              <a:rPr lang="en-US" sz="1300" dirty="0">
                <a:solidFill>
                  <a:schemeClr val="tx2"/>
                </a:solidFill>
              </a:rPr>
              <a:t>TAP Air Portugal (host airline), Turkish Airlines, Star Alliance, ACC Airlines, Aena, Menzies</a:t>
            </a:r>
            <a:endParaRPr lang="en-US" sz="1300" dirty="0"/>
          </a:p>
          <a:p>
            <a:pPr indent="0" marL="0">
              <a:buNone/>
            </a:pPr>
            <a:r>
              <a:rPr lang="en-US" sz="1300" b="1" dirty="0">
                <a:solidFill>
                  <a:schemeClr val="tx1"/>
                </a:solidFill>
              </a:rPr>
              <a:t>Manufacturers and new aviation</a:t>
            </a:r>
            <a:endParaRPr lang="en-US" sz="1300" dirty="0"/>
          </a:p>
          <a:p>
            <a:pPr indent="0" marL="0">
              <a:spcAft>
                <a:spcPts val="900"/>
              </a:spcAft>
              <a:buNone/>
            </a:pPr>
            <a:r>
              <a:rPr lang="en-US" sz="1300" dirty="0">
                <a:solidFill>
                  <a:schemeClr val="tx2"/>
                </a:solidFill>
              </a:rPr>
              <a:t>Airbus, Boeing, Vertical Aerospace (eVTOL), EVIA AERO (electric regional)</a:t>
            </a:r>
            <a:endParaRPr lang="en-US" sz="1300" dirty="0"/>
          </a:p>
          <a:p>
            <a:pPr indent="0" marL="0">
              <a:buNone/>
            </a:pPr>
            <a:r>
              <a:rPr lang="en-US" sz="1300" b="1" dirty="0">
                <a:solidFill>
                  <a:schemeClr val="tx1"/>
                </a:solidFill>
              </a:rPr>
              <a:t>Industry bodies and investors</a:t>
            </a:r>
            <a:endParaRPr lang="en-US" sz="1300" dirty="0"/>
          </a:p>
          <a:p>
            <a:pPr indent="0" marL="0">
              <a:spcAft>
                <a:spcPts val="900"/>
              </a:spcAft>
              <a:buNone/>
            </a:pPr>
            <a:r>
              <a:rPr lang="en-US" sz="1300" dirty="0">
                <a:solidFill>
                  <a:schemeClr val="tx2"/>
                </a:solidFill>
              </a:rPr>
              <a:t>IATA, ICAO, Plug and Play, SKY VC, Thayer Ventures, Future Aero Lab</a:t>
            </a:r>
            <a:endParaRPr lang="en-US" sz="1300" dirty="0"/>
          </a:p>
          <a:p>
            <a:pPr indent="0" marL="0">
              <a:buNone/>
            </a:pPr>
            <a:r>
              <a:rPr lang="en-US" sz="1300" b="1" dirty="0">
                <a:solidFill>
                  <a:schemeClr val="tx1"/>
                </a:solidFill>
              </a:rPr>
              <a:t>Media, organiser and lifestyle</a:t>
            </a:r>
            <a:endParaRPr lang="en-US" sz="1300" dirty="0"/>
          </a:p>
          <a:p>
            <a:pPr indent="0" marL="0">
              <a:spcAft>
                <a:spcPts val="900"/>
              </a:spcAft>
              <a:buNone/>
            </a:pPr>
            <a:r>
              <a:rPr lang="en-US" sz="1300" dirty="0">
                <a:solidFill>
                  <a:schemeClr val="tx2"/>
                </a:solidFill>
              </a:rPr>
              <a:t>13 media partners (AeroTime, AviTrader, LARA, Inflight and others), Terrapinn, Atelier da Cortiça, hello straw, Flydrate</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47 exhibiting startups also took a stage</a:t>
            </a:r>
            <a:endParaRPr lang="en-US" sz="3000" dirty="0"/>
          </a:p>
        </p:txBody>
      </p:sp>
      <p:sp>
        <p:nvSpPr>
          <p:cNvPr id="3" name="eyebrow-103"/>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STARTUPS</a:t>
            </a:r>
            <a:endParaRPr lang="en-US" sz="1100" dirty="0"/>
          </a:p>
        </p:txBody>
      </p:sp>
      <p:sp>
        <p:nvSpPr>
          <p:cNvPr id="5" name="st-count"/>
          <p:cNvSpPr txBox="1"/>
          <p:nvPr/>
        </p:nvSpPr>
        <p:spPr>
          <a:xfrm>
            <a:off x="10180015" y="502920"/>
            <a:ext cx="1463040" cy="868680"/>
          </a:xfrm>
          <a:prstGeom prst="rect">
            <a:avLst/>
          </a:prstGeom>
          <a:noFill/>
          <a:ln/>
        </p:spPr>
        <p:txBody>
          <a:bodyPr wrap="square" lIns="0" tIns="0" rIns="0" bIns="0" rtlCol="0" anchor="ctr"/>
          <a:lstStyle/>
          <a:p>
            <a:pPr algn="r" indent="0" marL="0">
              <a:buNone/>
            </a:pPr>
            <a:r>
              <a:rPr lang="en-US" sz="4800" b="1" dirty="0">
                <a:solidFill>
                  <a:schemeClr val="accent1"/>
                </a:solidFill>
                <a:latin typeface="Arial" pitchFamily="34" charset="0"/>
                <a:ea typeface="Arial" pitchFamily="34" charset="-122"/>
                <a:cs typeface="Arial" pitchFamily="34" charset="-120"/>
              </a:rPr>
              <a:t>47</a:t>
            </a:r>
            <a:endParaRPr lang="en-US" sz="4800" dirty="0"/>
          </a:p>
        </p:txBody>
      </p:sp>
      <p:sp>
        <p:nvSpPr>
          <p:cNvPr id="6" name="card-104"/>
          <p:cNvSpPr/>
          <p:nvPr/>
        </p:nvSpPr>
        <p:spPr>
          <a:xfrm>
            <a:off x="548640" y="1554480"/>
            <a:ext cx="5410048" cy="987552"/>
          </a:xfrm>
          <a:prstGeom prst="roundRect">
            <a:avLst>
              <a:gd name="adj" fmla="val 11111"/>
            </a:avLst>
          </a:prstGeom>
          <a:solidFill>
            <a:schemeClr val="bg1"/>
          </a:solidFill>
          <a:ln w="12700">
            <a:solidFill>
              <a:schemeClr val="bg1"/>
            </a:solidFill>
            <a:prstDash val="solid"/>
          </a:ln>
        </p:spPr>
      </p:sp>
      <p:sp>
        <p:nvSpPr>
          <p:cNvPr id="7" name="st-105"/>
          <p:cNvSpPr txBox="1"/>
          <p:nvPr/>
        </p:nvSpPr>
        <p:spPr>
          <a:xfrm>
            <a:off x="731520" y="1645920"/>
            <a:ext cx="5044288"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AI agents and passenger service · 10</a:t>
            </a:r>
            <a:endParaRPr lang="en-US" sz="1500" dirty="0"/>
          </a:p>
          <a:p>
            <a:pPr indent="0" marL="0">
              <a:buNone/>
            </a:pPr>
            <a:r>
              <a:rPr lang="en-US" sz="1300" dirty="0">
                <a:solidFill>
                  <a:schemeClr val="tx2"/>
                </a:solidFill>
              </a:rPr>
              <a:t>ALPIC, Bonafide, FlyBuddy, Hello Airport, Hubway, Humoniq, Openair, PadsPass, Stormy, Wayfinding CXi</a:t>
            </a:r>
            <a:endParaRPr lang="en-US" sz="1500" dirty="0"/>
          </a:p>
        </p:txBody>
      </p:sp>
      <p:sp>
        <p:nvSpPr>
          <p:cNvPr id="8" name="card-106"/>
          <p:cNvSpPr/>
          <p:nvPr/>
        </p:nvSpPr>
        <p:spPr>
          <a:xfrm>
            <a:off x="6233008" y="1554480"/>
            <a:ext cx="5410048" cy="987552"/>
          </a:xfrm>
          <a:prstGeom prst="roundRect">
            <a:avLst>
              <a:gd name="adj" fmla="val 11111"/>
            </a:avLst>
          </a:prstGeom>
          <a:solidFill>
            <a:schemeClr val="bg1"/>
          </a:solidFill>
          <a:ln w="12700">
            <a:solidFill>
              <a:schemeClr val="bg1"/>
            </a:solidFill>
            <a:prstDash val="solid"/>
          </a:ln>
        </p:spPr>
      </p:sp>
      <p:sp>
        <p:nvSpPr>
          <p:cNvPr id="9" name="st-107"/>
          <p:cNvSpPr txBox="1"/>
          <p:nvPr/>
        </p:nvSpPr>
        <p:spPr>
          <a:xfrm>
            <a:off x="6415888" y="1645920"/>
            <a:ext cx="5044288"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Airport, ground and baggage · 8</a:t>
            </a:r>
            <a:endParaRPr lang="en-US" sz="1500" dirty="0"/>
          </a:p>
          <a:p>
            <a:pPr indent="0" marL="0">
              <a:buNone/>
            </a:pPr>
            <a:r>
              <a:rPr lang="en-US" sz="1300" dirty="0">
                <a:solidFill>
                  <a:schemeClr val="tx2"/>
                </a:solidFill>
              </a:rPr>
              <a:t>Azalea Robotics, Buluttan, Cosmos, Gate Stream, Moonware, PixoAnalytics, ReLUGG, Stand-By</a:t>
            </a:r>
            <a:endParaRPr lang="en-US" sz="1500" dirty="0"/>
          </a:p>
        </p:txBody>
      </p:sp>
      <p:sp>
        <p:nvSpPr>
          <p:cNvPr id="10" name="card-108"/>
          <p:cNvSpPr/>
          <p:nvPr/>
        </p:nvSpPr>
        <p:spPr>
          <a:xfrm>
            <a:off x="548640" y="2706624"/>
            <a:ext cx="5410048" cy="987552"/>
          </a:xfrm>
          <a:prstGeom prst="roundRect">
            <a:avLst>
              <a:gd name="adj" fmla="val 11111"/>
            </a:avLst>
          </a:prstGeom>
          <a:solidFill>
            <a:schemeClr val="bg1"/>
          </a:solidFill>
          <a:ln w="12700">
            <a:solidFill>
              <a:schemeClr val="bg1"/>
            </a:solidFill>
            <a:prstDash val="solid"/>
          </a:ln>
        </p:spPr>
      </p:sp>
      <p:sp>
        <p:nvSpPr>
          <p:cNvPr id="11" name="st-109"/>
          <p:cNvSpPr txBox="1"/>
          <p:nvPr/>
        </p:nvSpPr>
        <p:spPr>
          <a:xfrm>
            <a:off x="731520" y="2798064"/>
            <a:ext cx="5044288"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Ops, crew and maintenance · 7</a:t>
            </a:r>
            <a:endParaRPr lang="en-US" sz="1500" dirty="0"/>
          </a:p>
          <a:p>
            <a:pPr indent="0" marL="0">
              <a:buNone/>
            </a:pPr>
            <a:r>
              <a:rPr lang="en-US" sz="1300" dirty="0">
                <a:solidFill>
                  <a:schemeClr val="tx2"/>
                </a:solidFill>
              </a:rPr>
              <a:t>AERAUT, AEROSENS, dCortex, JiGSO, Overwatch AI, SkAI Tech, Walk-Check</a:t>
            </a:r>
            <a:endParaRPr lang="en-US" sz="1500" dirty="0"/>
          </a:p>
        </p:txBody>
      </p:sp>
      <p:sp>
        <p:nvSpPr>
          <p:cNvPr id="12" name="card-110"/>
          <p:cNvSpPr/>
          <p:nvPr/>
        </p:nvSpPr>
        <p:spPr>
          <a:xfrm>
            <a:off x="6233008" y="2706624"/>
            <a:ext cx="5410048" cy="987552"/>
          </a:xfrm>
          <a:prstGeom prst="roundRect">
            <a:avLst>
              <a:gd name="adj" fmla="val 11111"/>
            </a:avLst>
          </a:prstGeom>
          <a:solidFill>
            <a:schemeClr val="bg1"/>
          </a:solidFill>
          <a:ln w="12700">
            <a:solidFill>
              <a:schemeClr val="bg1"/>
            </a:solidFill>
            <a:prstDash val="solid"/>
          </a:ln>
        </p:spPr>
      </p:sp>
      <p:sp>
        <p:nvSpPr>
          <p:cNvPr id="13" name="st-111"/>
          <p:cNvSpPr txBox="1"/>
          <p:nvPr/>
        </p:nvSpPr>
        <p:spPr>
          <a:xfrm>
            <a:off x="6415888" y="2798064"/>
            <a:ext cx="5044288"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Retail, distribution and ancillaries · 7</a:t>
            </a:r>
            <a:endParaRPr lang="en-US" sz="1500" dirty="0"/>
          </a:p>
          <a:p>
            <a:pPr indent="0" marL="0">
              <a:buNone/>
            </a:pPr>
            <a:r>
              <a:rPr lang="en-US" sz="1300" dirty="0">
                <a:solidFill>
                  <a:schemeClr val="tx2"/>
                </a:solidFill>
              </a:rPr>
              <a:t>AIRVIATECH, Altitude, Altovo, InterLnkd, Retailaer, RoamOn, Seatmaps</a:t>
            </a:r>
            <a:endParaRPr lang="en-US" sz="1500" dirty="0"/>
          </a:p>
        </p:txBody>
      </p:sp>
      <p:sp>
        <p:nvSpPr>
          <p:cNvPr id="14" name="card-112"/>
          <p:cNvSpPr/>
          <p:nvPr/>
        </p:nvSpPr>
        <p:spPr>
          <a:xfrm>
            <a:off x="548640" y="3858768"/>
            <a:ext cx="5410048" cy="987552"/>
          </a:xfrm>
          <a:prstGeom prst="roundRect">
            <a:avLst>
              <a:gd name="adj" fmla="val 11111"/>
            </a:avLst>
          </a:prstGeom>
          <a:solidFill>
            <a:schemeClr val="bg1"/>
          </a:solidFill>
          <a:ln w="12700">
            <a:solidFill>
              <a:schemeClr val="bg1"/>
            </a:solidFill>
            <a:prstDash val="solid"/>
          </a:ln>
        </p:spPr>
      </p:sp>
      <p:sp>
        <p:nvSpPr>
          <p:cNvPr id="15" name="st-113"/>
          <p:cNvSpPr txBox="1"/>
          <p:nvPr/>
        </p:nvSpPr>
        <p:spPr>
          <a:xfrm>
            <a:off x="731520" y="3950208"/>
            <a:ext cx="5044288"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Pricing and commercial AI · 5</a:t>
            </a:r>
            <a:endParaRPr lang="en-US" sz="1500" dirty="0"/>
          </a:p>
          <a:p>
            <a:pPr indent="0" marL="0">
              <a:buNone/>
            </a:pPr>
            <a:r>
              <a:rPr lang="en-US" sz="1300" dirty="0">
                <a:solidFill>
                  <a:schemeClr val="tx2"/>
                </a:solidFill>
              </a:rPr>
              <a:t>fareplace, telos, Vorsee, Xairlerate, Zerolook.ai</a:t>
            </a:r>
            <a:endParaRPr lang="en-US" sz="1500" dirty="0"/>
          </a:p>
        </p:txBody>
      </p:sp>
      <p:sp>
        <p:nvSpPr>
          <p:cNvPr id="16" name="card-114"/>
          <p:cNvSpPr/>
          <p:nvPr/>
        </p:nvSpPr>
        <p:spPr>
          <a:xfrm>
            <a:off x="6233008" y="3858768"/>
            <a:ext cx="5410048" cy="987552"/>
          </a:xfrm>
          <a:prstGeom prst="roundRect">
            <a:avLst>
              <a:gd name="adj" fmla="val 11111"/>
            </a:avLst>
          </a:prstGeom>
          <a:solidFill>
            <a:schemeClr val="bg1"/>
          </a:solidFill>
          <a:ln w="12700">
            <a:solidFill>
              <a:schemeClr val="bg1"/>
            </a:solidFill>
            <a:prstDash val="solid"/>
          </a:ln>
        </p:spPr>
      </p:sp>
      <p:sp>
        <p:nvSpPr>
          <p:cNvPr id="17" name="st-115"/>
          <p:cNvSpPr txBox="1"/>
          <p:nvPr/>
        </p:nvSpPr>
        <p:spPr>
          <a:xfrm>
            <a:off x="6415888" y="3950208"/>
            <a:ext cx="5044288"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Onboard · 4</a:t>
            </a:r>
            <a:endParaRPr lang="en-US" sz="1500" dirty="0"/>
          </a:p>
          <a:p>
            <a:pPr indent="0" marL="0">
              <a:buNone/>
            </a:pPr>
            <a:r>
              <a:rPr lang="en-US" sz="1300" dirty="0">
                <a:solidFill>
                  <a:schemeClr val="tx2"/>
                </a:solidFill>
              </a:rPr>
              <a:t>AEROMOND, InovativAI, Viktio, Virtuwella</a:t>
            </a:r>
            <a:endParaRPr lang="en-US" sz="1500" dirty="0"/>
          </a:p>
        </p:txBody>
      </p:sp>
      <p:sp>
        <p:nvSpPr>
          <p:cNvPr id="18" name="card-116"/>
          <p:cNvSpPr/>
          <p:nvPr/>
        </p:nvSpPr>
        <p:spPr>
          <a:xfrm>
            <a:off x="548640" y="5010912"/>
            <a:ext cx="11094415" cy="987552"/>
          </a:xfrm>
          <a:prstGeom prst="roundRect">
            <a:avLst>
              <a:gd name="adj" fmla="val 11111"/>
            </a:avLst>
          </a:prstGeom>
          <a:solidFill>
            <a:schemeClr val="bg1"/>
          </a:solidFill>
          <a:ln w="12700">
            <a:solidFill>
              <a:schemeClr val="bg1"/>
            </a:solidFill>
            <a:prstDash val="solid"/>
          </a:ln>
        </p:spPr>
      </p:sp>
      <p:sp>
        <p:nvSpPr>
          <p:cNvPr id="19" name="st-117"/>
          <p:cNvSpPr txBox="1"/>
          <p:nvPr/>
        </p:nvSpPr>
        <p:spPr>
          <a:xfrm>
            <a:off x="731520" y="5102352"/>
            <a:ext cx="10728655" cy="80467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latin typeface="Arial" pitchFamily="34" charset="0"/>
                <a:ea typeface="Arial" pitchFamily="34" charset="-122"/>
                <a:cs typeface="Arial" pitchFamily="34" charset="-120"/>
              </a:rPr>
              <a:t>Trust, payments, legal and services · 6</a:t>
            </a:r>
            <a:endParaRPr lang="en-US" sz="1500" dirty="0"/>
          </a:p>
          <a:p>
            <a:pPr indent="0" marL="0">
              <a:buNone/>
            </a:pPr>
            <a:r>
              <a:rPr lang="en-US" sz="1300" dirty="0">
                <a:solidFill>
                  <a:schemeClr val="tx2"/>
                </a:solidFill>
              </a:rPr>
              <a:t>Cybernet Secure, ImpersonAlly, JUNE (legal AI), Movmo (agent checkout), Passtination (destination loyalty), The Sales Copilots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Three pitch contests, judged by airlines and investors</a:t>
            </a:r>
            <a:endParaRPr lang="en-US" sz="3000" dirty="0"/>
          </a:p>
        </p:txBody>
      </p:sp>
      <p:sp>
        <p:nvSpPr>
          <p:cNvPr id="3" name="eyebrow-118"/>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STARTUPS · COMPETITIONS</a:t>
            </a:r>
            <a:endParaRPr lang="en-US" sz="1100" dirty="0"/>
          </a:p>
        </p:txBody>
      </p:sp>
      <p:sp>
        <p:nvSpPr>
          <p:cNvPr id="5" name="card-119"/>
          <p:cNvSpPr/>
          <p:nvPr/>
        </p:nvSpPr>
        <p:spPr>
          <a:xfrm>
            <a:off x="548640" y="1600200"/>
            <a:ext cx="3515258" cy="4526280"/>
          </a:xfrm>
          <a:prstGeom prst="roundRect">
            <a:avLst>
              <a:gd name="adj" fmla="val 3121"/>
            </a:avLst>
          </a:prstGeom>
          <a:solidFill>
            <a:schemeClr val="bg1"/>
          </a:solidFill>
          <a:ln w="12700">
            <a:solidFill>
              <a:schemeClr val="bg1"/>
            </a:solidFill>
            <a:prstDash val="solid"/>
          </a:ln>
        </p:spPr>
      </p:sp>
      <p:sp>
        <p:nvSpPr>
          <p:cNvPr id="6" name="comp-120"/>
          <p:cNvSpPr txBox="1"/>
          <p:nvPr/>
        </p:nvSpPr>
        <p:spPr>
          <a:xfrm>
            <a:off x="777240" y="1828800"/>
            <a:ext cx="3058058" cy="406908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Day 1 · 16:20 · Track 9</a:t>
            </a:r>
            <a:endParaRPr lang="en-US" sz="1200" dirty="0"/>
          </a:p>
          <a:p>
            <a:pPr indent="0" marL="0">
              <a:spcAft>
                <a:spcPts val="1000"/>
              </a:spcAft>
              <a:buNone/>
            </a:pPr>
            <a:r>
              <a:rPr lang="en-US" sz="2000" b="1" dirty="0">
                <a:solidFill>
                  <a:schemeClr val="tx1"/>
                </a:solidFill>
                <a:latin typeface="Arial" pitchFamily="34" charset="0"/>
                <a:ea typeface="Arial" pitchFamily="34" charset="-122"/>
                <a:cs typeface="Arial" pitchFamily="34" charset="-120"/>
              </a:rPr>
              <a:t>Startup Competition</a:t>
            </a:r>
            <a:endParaRPr lang="en-US" sz="1200" dirty="0"/>
          </a:p>
          <a:p>
            <a:pPr indent="0" marL="0">
              <a:spcAft>
                <a:spcPts val="400"/>
              </a:spcAft>
              <a:buNone/>
            </a:pPr>
            <a:r>
              <a:rPr lang="en-US" sz="1400" b="1" dirty="0">
                <a:solidFill>
                  <a:schemeClr val="tx1"/>
                </a:solidFill>
              </a:rPr>
              <a:t>Finalists</a:t>
            </a:r>
            <a:endParaRPr lang="en-US" sz="1200" dirty="0"/>
          </a:p>
          <a:p>
            <a:pPr marL="342900" indent="-342900">
              <a:spcAft>
                <a:spcPts val="400"/>
              </a:spcAft>
              <a:buSzPct val="100000"/>
              <a:buChar char="•"/>
            </a:pPr>
            <a:r>
              <a:rPr lang="en-US" sz="1400" dirty="0">
                <a:solidFill>
                  <a:schemeClr val="tx2"/>
                </a:solidFill>
              </a:rPr>
              <a:t>Zerolook.ai: fare prediction that cuts search cost</a:t>
            </a:r>
            <a:endParaRPr lang="en-US" sz="1200" dirty="0"/>
          </a:p>
          <a:p>
            <a:pPr marL="342900" indent="-342900">
              <a:spcAft>
                <a:spcPts val="400"/>
              </a:spcAft>
              <a:buSzPct val="100000"/>
              <a:buChar char="•"/>
            </a:pPr>
            <a:r>
              <a:rPr lang="en-US" sz="1400" dirty="0">
                <a:solidFill>
                  <a:schemeClr val="tx2"/>
                </a:solidFill>
              </a:rPr>
              <a:t>Bonafide: context-aware AI</a:t>
            </a:r>
            <a:endParaRPr lang="en-US" sz="1200" dirty="0"/>
          </a:p>
          <a:p>
            <a:pPr marL="342900" indent="-342900">
              <a:spcAft>
                <a:spcPts val="400"/>
              </a:spcAft>
              <a:buSzPct val="100000"/>
              <a:buChar char="•"/>
            </a:pPr>
            <a:r>
              <a:rPr lang="en-US" sz="1400" dirty="0">
                <a:solidFill>
                  <a:schemeClr val="tx2"/>
                </a:solidFill>
              </a:rPr>
              <a:t>Altitude: paid premium-cabin upgrades</a:t>
            </a:r>
            <a:endParaRPr lang="en-US" sz="1200" dirty="0"/>
          </a:p>
          <a:p>
            <a:pPr marL="342900" indent="-342900">
              <a:spcAft>
                <a:spcPts val="400"/>
              </a:spcAft>
              <a:buSzPct val="100000"/>
              <a:buChar char="•"/>
            </a:pPr>
            <a:r>
              <a:rPr lang="en-US" sz="1400" dirty="0">
                <a:solidFill>
                  <a:schemeClr val="tx2"/>
                </a:solidFill>
              </a:rPr>
              <a:t>Gate Stream: boarding in half the time</a:t>
            </a:r>
            <a:endParaRPr lang="en-US" sz="1200" dirty="0"/>
          </a:p>
          <a:p>
            <a:pPr indent="0" marL="0">
              <a:spcBef>
                <a:spcPts val="800"/>
              </a:spcBef>
              <a:buNone/>
            </a:pPr>
            <a:r>
              <a:rPr lang="en-US" sz="1400" dirty="0">
                <a:solidFill>
                  <a:schemeClr val="tx2"/>
                </a:solidFill>
              </a:rPr>
              <a:t>Judges: Thayer, IBM, AWS, If Not You Capital, Quvia, Zamna</a:t>
            </a:r>
            <a:endParaRPr lang="en-US" sz="1200" dirty="0"/>
          </a:p>
        </p:txBody>
      </p:sp>
      <p:sp>
        <p:nvSpPr>
          <p:cNvPr id="7" name="card-121"/>
          <p:cNvSpPr/>
          <p:nvPr/>
        </p:nvSpPr>
        <p:spPr>
          <a:xfrm>
            <a:off x="4338218" y="1600200"/>
            <a:ext cx="3515258" cy="4526280"/>
          </a:xfrm>
          <a:prstGeom prst="roundRect">
            <a:avLst>
              <a:gd name="adj" fmla="val 3121"/>
            </a:avLst>
          </a:prstGeom>
          <a:solidFill>
            <a:schemeClr val="bg1"/>
          </a:solidFill>
          <a:ln w="12700">
            <a:solidFill>
              <a:schemeClr val="bg1"/>
            </a:solidFill>
            <a:prstDash val="solid"/>
          </a:ln>
        </p:spPr>
      </p:sp>
      <p:sp>
        <p:nvSpPr>
          <p:cNvPr id="8" name="comp-122"/>
          <p:cNvSpPr txBox="1"/>
          <p:nvPr/>
        </p:nvSpPr>
        <p:spPr>
          <a:xfrm>
            <a:off x="4566818" y="1828800"/>
            <a:ext cx="3058058" cy="406908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Day 3 · 13:30 · Keynote Stage 1</a:t>
            </a:r>
            <a:endParaRPr lang="en-US" sz="1200" dirty="0"/>
          </a:p>
          <a:p>
            <a:pPr indent="0" marL="0">
              <a:spcAft>
                <a:spcPts val="1000"/>
              </a:spcAft>
              <a:buNone/>
            </a:pPr>
            <a:r>
              <a:rPr lang="en-US" sz="2000" b="1" dirty="0">
                <a:solidFill>
                  <a:schemeClr val="tx1"/>
                </a:solidFill>
                <a:latin typeface="Arial" pitchFamily="34" charset="0"/>
                <a:ea typeface="Arial" pitchFamily="34" charset="-122"/>
                <a:cs typeface="Arial" pitchFamily="34" charset="-120"/>
              </a:rPr>
              <a:t>Ancillary Arena</a:t>
            </a:r>
            <a:endParaRPr lang="en-US" sz="1200" dirty="0"/>
          </a:p>
          <a:p>
            <a:pPr indent="0" marL="0">
              <a:spcAft>
                <a:spcPts val="400"/>
              </a:spcAft>
              <a:buNone/>
            </a:pPr>
            <a:r>
              <a:rPr lang="en-US" sz="1400" b="1" dirty="0">
                <a:solidFill>
                  <a:schemeClr val="tx1"/>
                </a:solidFill>
              </a:rPr>
              <a:t>Finalists</a:t>
            </a:r>
            <a:endParaRPr lang="en-US" sz="1200" dirty="0"/>
          </a:p>
          <a:p>
            <a:pPr marL="342900" indent="-342900">
              <a:spcAft>
                <a:spcPts val="400"/>
              </a:spcAft>
              <a:buSzPct val="100000"/>
              <a:buChar char="•"/>
            </a:pPr>
            <a:r>
              <a:rPr lang="en-US" sz="1400" dirty="0">
                <a:solidFill>
                  <a:schemeClr val="tx2"/>
                </a:solidFill>
              </a:rPr>
              <a:t>Riyadh Air: PointsXchange</a:t>
            </a:r>
            <a:endParaRPr lang="en-US" sz="1200" dirty="0"/>
          </a:p>
          <a:p>
            <a:pPr marL="342900" indent="-342900">
              <a:spcAft>
                <a:spcPts val="400"/>
              </a:spcAft>
              <a:buSzPct val="100000"/>
              <a:buChar char="•"/>
            </a:pPr>
            <a:r>
              <a:rPr lang="en-US" sz="1400" dirty="0">
                <a:solidFill>
                  <a:schemeClr val="tx2"/>
                </a:solidFill>
              </a:rPr>
              <a:t>InterLnkd: NEXORA</a:t>
            </a:r>
            <a:endParaRPr lang="en-US" sz="1200" dirty="0"/>
          </a:p>
          <a:p>
            <a:pPr marL="342900" indent="-342900">
              <a:spcAft>
                <a:spcPts val="400"/>
              </a:spcAft>
              <a:buSzPct val="100000"/>
              <a:buChar char="•"/>
            </a:pPr>
            <a:r>
              <a:rPr lang="en-US" sz="1400" dirty="0">
                <a:solidFill>
                  <a:schemeClr val="tx2"/>
                </a:solidFill>
              </a:rPr>
              <a:t>Retailaer</a:t>
            </a:r>
            <a:endParaRPr lang="en-US" sz="1200" dirty="0"/>
          </a:p>
          <a:p>
            <a:pPr marL="342900" indent="-342900">
              <a:spcAft>
                <a:spcPts val="400"/>
              </a:spcAft>
              <a:buSzPct val="100000"/>
              <a:buChar char="•"/>
            </a:pPr>
            <a:r>
              <a:rPr lang="en-US" sz="1400" dirty="0">
                <a:solidFill>
                  <a:schemeClr val="tx2"/>
                </a:solidFill>
              </a:rPr>
              <a:t>VINI (Flyvbird GmbH)</a:t>
            </a:r>
            <a:endParaRPr lang="en-US" sz="1200" dirty="0"/>
          </a:p>
          <a:p>
            <a:pPr marL="342900" indent="-342900">
              <a:spcAft>
                <a:spcPts val="400"/>
              </a:spcAft>
              <a:buSzPct val="100000"/>
              <a:buChar char="•"/>
            </a:pPr>
            <a:r>
              <a:rPr lang="en-US" sz="1400" dirty="0">
                <a:solidFill>
                  <a:schemeClr val="tx2"/>
                </a:solidFill>
              </a:rPr>
              <a:t>RoamOn</a:t>
            </a:r>
            <a:endParaRPr lang="en-US" sz="1200" dirty="0"/>
          </a:p>
          <a:p>
            <a:pPr indent="0" marL="0">
              <a:spcBef>
                <a:spcPts val="800"/>
              </a:spcBef>
              <a:buNone/>
            </a:pPr>
            <a:r>
              <a:rPr lang="en-US" sz="1400" dirty="0">
                <a:solidFill>
                  <a:schemeClr val="tx2"/>
                </a:solidFill>
              </a:rPr>
              <a:t>Panel: Iberia, Oman Air, TAP, IdeaWorksCompany, affinnity</a:t>
            </a:r>
            <a:endParaRPr lang="en-US" sz="1200" dirty="0"/>
          </a:p>
        </p:txBody>
      </p:sp>
      <p:sp>
        <p:nvSpPr>
          <p:cNvPr id="9" name="card-123"/>
          <p:cNvSpPr/>
          <p:nvPr/>
        </p:nvSpPr>
        <p:spPr>
          <a:xfrm>
            <a:off x="8127797" y="1600200"/>
            <a:ext cx="3515258" cy="4526280"/>
          </a:xfrm>
          <a:prstGeom prst="roundRect">
            <a:avLst>
              <a:gd name="adj" fmla="val 3121"/>
            </a:avLst>
          </a:prstGeom>
          <a:solidFill>
            <a:schemeClr val="bg1"/>
          </a:solidFill>
          <a:ln w="12700">
            <a:solidFill>
              <a:schemeClr val="bg1"/>
            </a:solidFill>
            <a:prstDash val="solid"/>
          </a:ln>
        </p:spPr>
      </p:sp>
      <p:sp>
        <p:nvSpPr>
          <p:cNvPr id="10" name="comp-124"/>
          <p:cNvSpPr txBox="1"/>
          <p:nvPr/>
        </p:nvSpPr>
        <p:spPr>
          <a:xfrm>
            <a:off x="8356397" y="1828800"/>
            <a:ext cx="3058058" cy="406908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Day 3 · 15:15 · Keynote Stage 1</a:t>
            </a:r>
            <a:endParaRPr lang="en-US" sz="1200" dirty="0"/>
          </a:p>
          <a:p>
            <a:pPr indent="0" marL="0">
              <a:spcAft>
                <a:spcPts val="1000"/>
              </a:spcAft>
              <a:buNone/>
            </a:pPr>
            <a:r>
              <a:rPr lang="en-US" sz="2000" b="1" dirty="0">
                <a:solidFill>
                  <a:schemeClr val="tx1"/>
                </a:solidFill>
                <a:latin typeface="Arial" pitchFamily="34" charset="0"/>
                <a:ea typeface="Arial" pitchFamily="34" charset="-122"/>
                <a:cs typeface="Arial" pitchFamily="34" charset="-120"/>
              </a:rPr>
              <a:t>Battle of the Apps</a:t>
            </a:r>
            <a:endParaRPr lang="en-US" sz="1200" dirty="0"/>
          </a:p>
          <a:p>
            <a:pPr indent="0" marL="0">
              <a:spcBef>
                <a:spcPts val="800"/>
              </a:spcBef>
              <a:buNone/>
            </a:pPr>
            <a:r>
              <a:rPr lang="en-US" sz="1400" dirty="0">
                <a:solidFill>
                  <a:schemeClr val="tx2"/>
                </a:solidFill>
              </a:rPr>
              <a:t>Airline apps put head to head, with digital leaders from Air Canada, SAS and Virgin Australia.</a:t>
            </a:r>
            <a:endParaRPr lang="en-US" sz="1200" dirty="0"/>
          </a:p>
          <a:p>
            <a:pPr indent="0" marL="0">
              <a:spcBef>
                <a:spcPts val="800"/>
              </a:spcBef>
              <a:buNone/>
            </a:pPr>
            <a:r>
              <a:rPr lang="en-US" sz="1400" dirty="0">
                <a:solidFill>
                  <a:schemeClr val="tx2"/>
                </a:solidFill>
              </a:rPr>
              <a:t>Panel: SkiesFifty, Dgtlsky, Amadeus Ventures, LeapShift, Lenahan Consulting; MC Oisin Lunny</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125"/>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FROM THE SESSIONS</a:t>
            </a:r>
            <a:endParaRPr lang="en-US" sz="1100" dirty="0"/>
          </a:p>
        </p:txBody>
      </p:sp>
      <p:sp>
        <p:nvSpPr>
          <p:cNvPr id="3" name="Text 0"/>
          <p:cNvSpPr/>
          <p:nvPr>
            <p:ph idx="100" type="title" hasCustomPrompt="1"/>
          </p:nvPr>
        </p:nvSpPr>
        <p:spPr>
          <a:xfrm>
            <a:off x="548640" y="2011680"/>
            <a:ext cx="11094415" cy="173736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What we heard</a:t>
            </a:r>
            <a:endParaRPr lang="en-US" sz="4800" dirty="0"/>
          </a:p>
        </p:txBody>
      </p:sp>
      <p:sp>
        <p:nvSpPr>
          <p:cNvPr id="4" name="rule-126"/>
          <p:cNvSpPr/>
          <p:nvPr/>
        </p:nvSpPr>
        <p:spPr>
          <a:xfrm>
            <a:off x="548640" y="3931920"/>
            <a:ext cx="3393338" cy="0"/>
          </a:xfrm>
          <a:prstGeom prst="line">
            <a:avLst/>
          </a:prstGeom>
          <a:noFill/>
          <a:ln w="19050">
            <a:solidFill>
              <a:schemeClr val="accent1"/>
            </a:solidFill>
            <a:prstDash val="solid"/>
          </a:ln>
        </p:spPr>
      </p:sp>
      <p:sp>
        <p:nvSpPr>
          <p:cNvPr id="5" name="heard-127"/>
          <p:cNvSpPr txBox="1"/>
          <p:nvPr/>
        </p:nvSpPr>
        <p:spPr>
          <a:xfrm>
            <a:off x="548640" y="4069080"/>
            <a:ext cx="3393338" cy="12801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Small airline, big impact</a:t>
            </a:r>
            <a:endParaRPr lang="en-US" sz="2000" dirty="0"/>
          </a:p>
          <a:p>
            <a:pPr indent="0" marL="0">
              <a:buNone/>
            </a:pPr>
            <a:r>
              <a:rPr lang="en-US" sz="1500" dirty="0">
                <a:solidFill>
                  <a:schemeClr val="accent6"/>
                </a:solidFill>
              </a:rPr>
              <a:t>How Marabu delivers with a two-person IT team</a:t>
            </a:r>
            <a:endParaRPr lang="en-US" sz="2000" dirty="0"/>
          </a:p>
        </p:txBody>
      </p:sp>
      <p:sp>
        <p:nvSpPr>
          <p:cNvPr id="6" name="rule-128"/>
          <p:cNvSpPr/>
          <p:nvPr/>
        </p:nvSpPr>
        <p:spPr>
          <a:xfrm>
            <a:off x="4399178" y="3931920"/>
            <a:ext cx="3393338" cy="0"/>
          </a:xfrm>
          <a:prstGeom prst="line">
            <a:avLst/>
          </a:prstGeom>
          <a:noFill/>
          <a:ln w="19050">
            <a:solidFill>
              <a:schemeClr val="accent1"/>
            </a:solidFill>
            <a:prstDash val="solid"/>
          </a:ln>
        </p:spPr>
      </p:sp>
      <p:sp>
        <p:nvSpPr>
          <p:cNvPr id="7" name="heard-129"/>
          <p:cNvSpPr txBox="1"/>
          <p:nvPr/>
        </p:nvSpPr>
        <p:spPr>
          <a:xfrm>
            <a:off x="4399178" y="4069080"/>
            <a:ext cx="3393338" cy="12801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Heads of data and AI</a:t>
            </a:r>
            <a:endParaRPr lang="en-US" sz="2000" dirty="0"/>
          </a:p>
          <a:p>
            <a:pPr indent="0" marL="0">
              <a:buNone/>
            </a:pPr>
            <a:r>
              <a:rPr lang="en-US" sz="1500" dirty="0">
                <a:solidFill>
                  <a:schemeClr val="accent6"/>
                </a:solidFill>
              </a:rPr>
              <a:t>What leading airlines are building and worrying about</a:t>
            </a:r>
            <a:endParaRPr lang="en-US" sz="2000" dirty="0"/>
          </a:p>
        </p:txBody>
      </p:sp>
      <p:sp>
        <p:nvSpPr>
          <p:cNvPr id="8" name="rule-130"/>
          <p:cNvSpPr/>
          <p:nvPr/>
        </p:nvSpPr>
        <p:spPr>
          <a:xfrm>
            <a:off x="8249717" y="3931920"/>
            <a:ext cx="3393338" cy="0"/>
          </a:xfrm>
          <a:prstGeom prst="line">
            <a:avLst/>
          </a:prstGeom>
          <a:noFill/>
          <a:ln w="19050">
            <a:solidFill>
              <a:schemeClr val="accent1"/>
            </a:solidFill>
            <a:prstDash val="solid"/>
          </a:ln>
        </p:spPr>
      </p:sp>
      <p:sp>
        <p:nvSpPr>
          <p:cNvPr id="9" name="heard-131"/>
          <p:cNvSpPr txBox="1"/>
          <p:nvPr/>
        </p:nvSpPr>
        <p:spPr>
          <a:xfrm>
            <a:off x="8249717" y="4069080"/>
            <a:ext cx="3393338" cy="12801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The investors’ view</a:t>
            </a:r>
            <a:endParaRPr lang="en-US" sz="2000" dirty="0"/>
          </a:p>
          <a:p>
            <a:pPr indent="0" marL="0">
              <a:buNone/>
            </a:pPr>
            <a:r>
              <a:rPr lang="en-US" sz="1500" dirty="0">
                <a:solidFill>
                  <a:schemeClr val="accent6"/>
                </a:solidFill>
              </a:rPr>
              <a:t>Where travel venture money is going, and what is hyped</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Small airline, big impact: digital change without big budgets</a:t>
            </a:r>
            <a:endParaRPr lang="en-US" sz="3000" dirty="0"/>
          </a:p>
        </p:txBody>
      </p:sp>
      <p:sp>
        <p:nvSpPr>
          <p:cNvPr id="3" name="eyebrow-132"/>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MARABU AIRLINES · DAY 1 · DIGITAL OPERATIONS TRACK</a:t>
            </a:r>
            <a:endParaRPr lang="en-US" sz="1100" dirty="0"/>
          </a:p>
        </p:txBody>
      </p:sp>
      <p:sp>
        <p:nvSpPr>
          <p:cNvPr id="5" name="card-133"/>
          <p:cNvSpPr/>
          <p:nvPr/>
        </p:nvSpPr>
        <p:spPr>
          <a:xfrm>
            <a:off x="548640" y="1737360"/>
            <a:ext cx="3017520" cy="2377440"/>
          </a:xfrm>
          <a:prstGeom prst="roundRect">
            <a:avLst>
              <a:gd name="adj" fmla="val 4615"/>
            </a:avLst>
          </a:prstGeom>
          <a:solidFill>
            <a:schemeClr val="bg2"/>
          </a:solidFill>
          <a:ln w="12700">
            <a:solidFill>
              <a:schemeClr val="bg2"/>
            </a:solidFill>
            <a:prstDash val="solid"/>
          </a:ln>
        </p:spPr>
      </p:sp>
      <p:sp>
        <p:nvSpPr>
          <p:cNvPr id="6" name="statnum-134"/>
          <p:cNvSpPr txBox="1"/>
          <p:nvPr/>
        </p:nvSpPr>
        <p:spPr>
          <a:xfrm>
            <a:off x="777240" y="1920240"/>
            <a:ext cx="25603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2</a:t>
            </a:r>
            <a:endParaRPr lang="en-US" sz="4400" dirty="0"/>
          </a:p>
        </p:txBody>
      </p:sp>
      <p:sp>
        <p:nvSpPr>
          <p:cNvPr id="7" name="statlabel-135"/>
          <p:cNvSpPr txBox="1"/>
          <p:nvPr/>
        </p:nvSpPr>
        <p:spPr>
          <a:xfrm>
            <a:off x="777240" y="2697480"/>
            <a:ext cx="2560320" cy="1280160"/>
          </a:xfrm>
          <a:prstGeom prst="rect">
            <a:avLst/>
          </a:prstGeom>
          <a:noFill/>
          <a:ln/>
        </p:spPr>
        <p:txBody>
          <a:bodyPr wrap="square" lIns="0" tIns="0" rIns="0" bIns="0" rtlCol="0" anchor="t"/>
          <a:lstStyle/>
          <a:p>
            <a:pPr indent="0" marL="0">
              <a:buNone/>
            </a:pPr>
            <a:r>
              <a:rPr lang="en-US" sz="1400" dirty="0">
                <a:solidFill>
                  <a:schemeClr val="tx2"/>
                </a:solidFill>
              </a:rPr>
              <a:t>IT people. The business teams do the rest of the work themselves.</a:t>
            </a:r>
            <a:endParaRPr lang="en-US" sz="1400" dirty="0"/>
          </a:p>
        </p:txBody>
      </p:sp>
      <p:sp>
        <p:nvSpPr>
          <p:cNvPr id="8" name="card-136"/>
          <p:cNvSpPr/>
          <p:nvPr/>
        </p:nvSpPr>
        <p:spPr>
          <a:xfrm>
            <a:off x="3840480" y="1737360"/>
            <a:ext cx="3017520" cy="2377440"/>
          </a:xfrm>
          <a:prstGeom prst="roundRect">
            <a:avLst>
              <a:gd name="adj" fmla="val 4615"/>
            </a:avLst>
          </a:prstGeom>
          <a:solidFill>
            <a:schemeClr val="bg2"/>
          </a:solidFill>
          <a:ln w="12700">
            <a:solidFill>
              <a:schemeClr val="bg2"/>
            </a:solidFill>
            <a:prstDash val="solid"/>
          </a:ln>
        </p:spPr>
      </p:sp>
      <p:sp>
        <p:nvSpPr>
          <p:cNvPr id="9" name="statnum-137"/>
          <p:cNvSpPr txBox="1"/>
          <p:nvPr/>
        </p:nvSpPr>
        <p:spPr>
          <a:xfrm>
            <a:off x="4069080" y="1920240"/>
            <a:ext cx="256032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3</a:t>
            </a:r>
            <a:endParaRPr lang="en-US" sz="4400" dirty="0"/>
          </a:p>
        </p:txBody>
      </p:sp>
      <p:sp>
        <p:nvSpPr>
          <p:cNvPr id="10" name="statlabel-138"/>
          <p:cNvSpPr txBox="1"/>
          <p:nvPr/>
        </p:nvSpPr>
        <p:spPr>
          <a:xfrm>
            <a:off x="4069080" y="2697480"/>
            <a:ext cx="2560320" cy="1280160"/>
          </a:xfrm>
          <a:prstGeom prst="rect">
            <a:avLst/>
          </a:prstGeom>
          <a:noFill/>
          <a:ln/>
        </p:spPr>
        <p:txBody>
          <a:bodyPr wrap="square" lIns="0" tIns="0" rIns="0" bIns="0" rtlCol="0" anchor="t"/>
          <a:lstStyle/>
          <a:p>
            <a:pPr indent="0" marL="0">
              <a:buNone/>
            </a:pPr>
            <a:r>
              <a:rPr lang="en-US" sz="1400" dirty="0">
                <a:solidFill>
                  <a:schemeClr val="tx2"/>
                </a:solidFill>
              </a:rPr>
              <a:t>projects launched in 6 months, including online check-in</a:t>
            </a:r>
            <a:endParaRPr lang="en-US" sz="1400" dirty="0"/>
          </a:p>
        </p:txBody>
      </p:sp>
      <p:sp>
        <p:nvSpPr>
          <p:cNvPr id="11" name="card-139"/>
          <p:cNvSpPr/>
          <p:nvPr/>
        </p:nvSpPr>
        <p:spPr>
          <a:xfrm>
            <a:off x="7132320" y="1737360"/>
            <a:ext cx="4510735" cy="2377440"/>
          </a:xfrm>
          <a:prstGeom prst="roundRect">
            <a:avLst>
              <a:gd name="adj" fmla="val 4615"/>
            </a:avLst>
          </a:prstGeom>
          <a:solidFill>
            <a:schemeClr val="tx1"/>
          </a:solidFill>
          <a:ln w="12700">
            <a:solidFill>
              <a:schemeClr val="tx1"/>
            </a:solidFill>
            <a:prstDash val="solid"/>
          </a:ln>
        </p:spPr>
      </p:sp>
      <p:sp>
        <p:nvSpPr>
          <p:cNvPr id="12" name="marabu-quote"/>
          <p:cNvSpPr txBox="1"/>
          <p:nvPr/>
        </p:nvSpPr>
        <p:spPr>
          <a:xfrm>
            <a:off x="7406640" y="2011680"/>
            <a:ext cx="3962095" cy="1828800"/>
          </a:xfrm>
          <a:prstGeom prst="rect">
            <a:avLst/>
          </a:prstGeom>
          <a:noFill/>
          <a:ln/>
        </p:spPr>
        <p:txBody>
          <a:bodyPr wrap="square" lIns="0" tIns="0" rIns="0" bIns="0" rtlCol="0" anchor="t"/>
          <a:lstStyle/>
          <a:p>
            <a:pPr indent="0" marL="0">
              <a:spcAft>
                <a:spcPts val="1000"/>
              </a:spcAft>
              <a:buNone/>
            </a:pPr>
            <a:r>
              <a:rPr lang="en-US" sz="1100" b="1" spc="200" kern="0" dirty="0">
                <a:solidFill>
                  <a:schemeClr val="accent6"/>
                </a:solidFill>
              </a:rPr>
              <a:t>THEIR ADVICE TO AIRLINES</a:t>
            </a:r>
            <a:endParaRPr lang="en-US" sz="1100" dirty="0"/>
          </a:p>
          <a:p>
            <a:pPr indent="0" marL="0">
              <a:buNone/>
            </a:pPr>
            <a:r>
              <a:rPr lang="en-US" sz="2200" b="1" dirty="0">
                <a:solidFill>
                  <a:schemeClr val="bg1"/>
                </a:solidFill>
                <a:latin typeface="Arial" pitchFamily="34" charset="0"/>
                <a:ea typeface="Arial" pitchFamily="34" charset="-122"/>
                <a:cs typeface="Arial" pitchFamily="34" charset="-120"/>
              </a:rPr>
              <a:t>Work with smaller partners. You get their full attention and a good price.</a:t>
            </a:r>
            <a:endParaRPr lang="en-US" sz="1100" dirty="0"/>
          </a:p>
        </p:txBody>
      </p:sp>
      <p:sp>
        <p:nvSpPr>
          <p:cNvPr id="13" name="marabu-src"/>
          <p:cNvSpPr txBox="1"/>
          <p:nvPr/>
        </p:nvSpPr>
        <p:spPr>
          <a:xfrm>
            <a:off x="548640" y="4480560"/>
            <a:ext cx="9601200" cy="731520"/>
          </a:xfrm>
          <a:prstGeom prst="rect">
            <a:avLst/>
          </a:prstGeom>
          <a:noFill/>
          <a:ln/>
        </p:spPr>
        <p:txBody>
          <a:bodyPr wrap="square" lIns="0" tIns="0" rIns="0" bIns="0" rtlCol="0" anchor="t"/>
          <a:lstStyle/>
          <a:p>
            <a:pPr indent="0" marL="0">
              <a:buNone/>
            </a:pPr>
            <a:r>
              <a:rPr lang="en-US" sz="1400" dirty="0">
                <a:solidFill>
                  <a:schemeClr val="tx2"/>
                </a:solidFill>
              </a:rPr>
              <a:t>Presented by Johannes Haage, Senior Head of Operational Development &amp; Strategy, in the session “Small airline, big impact: Delivering digital transformation without big budgets at Marabu”.</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Hot topics: context first, then agents under control</a:t>
            </a:r>
            <a:endParaRPr lang="en-US" sz="3000" dirty="0"/>
          </a:p>
        </p:txBody>
      </p:sp>
      <p:sp>
        <p:nvSpPr>
          <p:cNvPr id="3" name="eyebrow-14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HEADS OF DATA AND AI · RYANAIR, EMIRATES, ETIHAD, TAP AND OTHERS</a:t>
            </a:r>
            <a:endParaRPr lang="en-US" sz="1100" dirty="0"/>
          </a:p>
        </p:txBody>
      </p:sp>
      <p:sp>
        <p:nvSpPr>
          <p:cNvPr id="5" name="colmark-141"/>
          <p:cNvSpPr/>
          <p:nvPr/>
        </p:nvSpPr>
        <p:spPr>
          <a:xfrm>
            <a:off x="548640" y="1645920"/>
            <a:ext cx="3454298" cy="64008"/>
          </a:xfrm>
          <a:prstGeom prst="rect">
            <a:avLst/>
          </a:prstGeom>
          <a:solidFill>
            <a:schemeClr val="accent1"/>
          </a:solidFill>
          <a:ln w="12700">
            <a:solidFill>
              <a:schemeClr val="accent1"/>
            </a:solidFill>
            <a:prstDash val="solid"/>
          </a:ln>
        </p:spPr>
      </p:sp>
      <p:sp>
        <p:nvSpPr>
          <p:cNvPr id="6" name="colt-142"/>
          <p:cNvSpPr txBox="1"/>
          <p:nvPr/>
        </p:nvSpPr>
        <p:spPr>
          <a:xfrm>
            <a:off x="548640" y="1828800"/>
            <a:ext cx="3454298"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1 · Data and context foundations</a:t>
            </a:r>
            <a:endParaRPr lang="en-US" sz="1600" dirty="0"/>
          </a:p>
        </p:txBody>
      </p:sp>
      <p:sp>
        <p:nvSpPr>
          <p:cNvPr id="7" name="coll-143"/>
          <p:cNvSpPr txBox="1"/>
          <p:nvPr/>
        </p:nvSpPr>
        <p:spPr>
          <a:xfrm>
            <a:off x="548640" y="2377440"/>
            <a:ext cx="3454298"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How to build a semantic layer</a:t>
            </a:r>
            <a:endParaRPr lang="en-US" sz="1400" dirty="0"/>
          </a:p>
          <a:p>
            <a:pPr marL="342900" indent="-342900">
              <a:spcAft>
                <a:spcPts val="800"/>
              </a:spcAft>
              <a:buSzPct val="100000"/>
              <a:buChar char="•"/>
            </a:pPr>
            <a:r>
              <a:rPr lang="en-US" sz="1400" dirty="0">
                <a:solidFill>
                  <a:schemeClr val="tx2"/>
                </a:solidFill>
              </a:rPr>
              <a:t>The database as the foundation for AI: an essential prerequisite</a:t>
            </a:r>
            <a:endParaRPr lang="en-US" sz="1400" dirty="0"/>
          </a:p>
          <a:p>
            <a:pPr marL="342900" indent="-342900">
              <a:spcAft>
                <a:spcPts val="800"/>
              </a:spcAft>
              <a:buSzPct val="100000"/>
              <a:buChar char="•"/>
            </a:pPr>
            <a:r>
              <a:rPr lang="en-US" sz="1400" dirty="0">
                <a:solidFill>
                  <a:schemeClr val="tx2"/>
                </a:solidFill>
              </a:rPr>
              <a:t>An enterprise context layer</a:t>
            </a:r>
            <a:endParaRPr lang="en-US" sz="1400" dirty="0"/>
          </a:p>
          <a:p>
            <a:pPr marL="342900" indent="-342900">
              <a:spcAft>
                <a:spcPts val="800"/>
              </a:spcAft>
              <a:buSzPct val="100000"/>
              <a:buChar char="•"/>
            </a:pPr>
            <a:r>
              <a:rPr lang="en-US" sz="1400" dirty="0">
                <a:solidFill>
                  <a:schemeClr val="tx2"/>
                </a:solidFill>
              </a:rPr>
              <a:t>Knowledge graphs</a:t>
            </a:r>
            <a:endParaRPr lang="en-US" sz="1400" dirty="0"/>
          </a:p>
          <a:p>
            <a:pPr marL="342900" indent="-342900">
              <a:spcAft>
                <a:spcPts val="800"/>
              </a:spcAft>
              <a:buSzPct val="100000"/>
              <a:buChar char="•"/>
            </a:pPr>
            <a:r>
              <a:rPr lang="en-US" sz="1400" dirty="0">
                <a:solidFill>
                  <a:schemeClr val="tx2"/>
                </a:solidFill>
              </a:rPr>
              <a:t>Data layers and context engineering</a:t>
            </a:r>
            <a:endParaRPr lang="en-US" sz="1400" dirty="0"/>
          </a:p>
          <a:p>
            <a:pPr marL="342900" indent="-342900">
              <a:spcAft>
                <a:spcPts val="800"/>
              </a:spcAft>
              <a:buSzPct val="100000"/>
              <a:buChar char="•"/>
            </a:pPr>
            <a:r>
              <a:rPr lang="en-US" sz="1400" dirty="0">
                <a:solidFill>
                  <a:schemeClr val="tx2"/>
                </a:solidFill>
              </a:rPr>
              <a:t>Digital context stewards vs data stewards</a:t>
            </a:r>
            <a:endParaRPr lang="en-US" sz="1400" dirty="0"/>
          </a:p>
        </p:txBody>
      </p:sp>
      <p:sp>
        <p:nvSpPr>
          <p:cNvPr id="8" name="colmark-144"/>
          <p:cNvSpPr/>
          <p:nvPr/>
        </p:nvSpPr>
        <p:spPr>
          <a:xfrm>
            <a:off x="4368698" y="1645920"/>
            <a:ext cx="3454298" cy="64008"/>
          </a:xfrm>
          <a:prstGeom prst="rect">
            <a:avLst/>
          </a:prstGeom>
          <a:solidFill>
            <a:schemeClr val="accent3"/>
          </a:solidFill>
          <a:ln w="12700">
            <a:solidFill>
              <a:schemeClr val="accent3"/>
            </a:solidFill>
            <a:prstDash val="solid"/>
          </a:ln>
        </p:spPr>
      </p:sp>
      <p:sp>
        <p:nvSpPr>
          <p:cNvPr id="9" name="colt-145"/>
          <p:cNvSpPr txBox="1"/>
          <p:nvPr/>
        </p:nvSpPr>
        <p:spPr>
          <a:xfrm>
            <a:off x="4368698" y="1828800"/>
            <a:ext cx="3454298"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2 · Agent security and governance</a:t>
            </a:r>
            <a:endParaRPr lang="en-US" sz="1600" dirty="0"/>
          </a:p>
        </p:txBody>
      </p:sp>
      <p:sp>
        <p:nvSpPr>
          <p:cNvPr id="10" name="coll-146"/>
          <p:cNvSpPr txBox="1"/>
          <p:nvPr/>
        </p:nvSpPr>
        <p:spPr>
          <a:xfrm>
            <a:off x="4368698" y="2377440"/>
            <a:ext cx="3454298"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MCP servers</a:t>
            </a:r>
            <a:endParaRPr lang="en-US" sz="1400" dirty="0"/>
          </a:p>
          <a:p>
            <a:pPr marL="342900" indent="-342900">
              <a:spcAft>
                <a:spcPts val="800"/>
              </a:spcAft>
              <a:buSzPct val="100000"/>
              <a:buChar char="•"/>
            </a:pPr>
            <a:r>
              <a:rPr lang="en-US" sz="1400" dirty="0">
                <a:solidFill>
                  <a:schemeClr val="tx2"/>
                </a:solidFill>
              </a:rPr>
              <a:t>Security for agentic AI: roles, permissions, code of conduct</a:t>
            </a:r>
            <a:endParaRPr lang="en-US" sz="1400" dirty="0"/>
          </a:p>
          <a:p>
            <a:pPr marL="342900" indent="-342900">
              <a:spcAft>
                <a:spcPts val="800"/>
              </a:spcAft>
              <a:buSzPct val="100000"/>
              <a:buChar char="•"/>
            </a:pPr>
            <a:r>
              <a:rPr lang="en-US" sz="1400" dirty="0">
                <a:solidFill>
                  <a:schemeClr val="tx2"/>
                </a:solidFill>
              </a:rPr>
              <a:t>Job descriptions for agents: authentication, authorisation</a:t>
            </a:r>
            <a:endParaRPr lang="en-US" sz="1400" dirty="0"/>
          </a:p>
          <a:p>
            <a:pPr marL="342900" indent="-342900">
              <a:spcAft>
                <a:spcPts val="800"/>
              </a:spcAft>
              <a:buSzPct val="100000"/>
              <a:buChar char="•"/>
            </a:pPr>
            <a:r>
              <a:rPr lang="en-US" sz="1400" dirty="0">
                <a:solidFill>
                  <a:schemeClr val="tx2"/>
                </a:solidFill>
              </a:rPr>
              <a:t>Guardrails</a:t>
            </a:r>
            <a:endParaRPr lang="en-US" sz="1400" dirty="0"/>
          </a:p>
          <a:p>
            <a:pPr marL="342900" indent="-342900">
              <a:spcAft>
                <a:spcPts val="800"/>
              </a:spcAft>
              <a:buSzPct val="100000"/>
              <a:buChar char="•"/>
            </a:pPr>
            <a:r>
              <a:rPr lang="en-US" sz="1400" dirty="0">
                <a:solidFill>
                  <a:schemeClr val="tx2"/>
                </a:solidFill>
              </a:rPr>
              <a:t>Keeping humans in control</a:t>
            </a:r>
            <a:endParaRPr lang="en-US" sz="1400" dirty="0"/>
          </a:p>
          <a:p>
            <a:pPr marL="342900" indent="-342900">
              <a:spcAft>
                <a:spcPts val="800"/>
              </a:spcAft>
              <a:buSzPct val="100000"/>
              <a:buChar char="•"/>
            </a:pPr>
            <a:r>
              <a:rPr lang="en-US" sz="1400" dirty="0">
                <a:solidFill>
                  <a:schemeClr val="tx2"/>
                </a:solidFill>
              </a:rPr>
              <a:t>Governance of agents and AI governance</a:t>
            </a:r>
            <a:endParaRPr lang="en-US" sz="1400" dirty="0"/>
          </a:p>
        </p:txBody>
      </p:sp>
      <p:sp>
        <p:nvSpPr>
          <p:cNvPr id="11" name="colmark-147"/>
          <p:cNvSpPr/>
          <p:nvPr/>
        </p:nvSpPr>
        <p:spPr>
          <a:xfrm>
            <a:off x="8188757" y="1645920"/>
            <a:ext cx="3454298" cy="64008"/>
          </a:xfrm>
          <a:prstGeom prst="rect">
            <a:avLst/>
          </a:prstGeom>
          <a:solidFill>
            <a:schemeClr val="accent4"/>
          </a:solidFill>
          <a:ln w="12700">
            <a:solidFill>
              <a:schemeClr val="accent4"/>
            </a:solidFill>
            <a:prstDash val="solid"/>
          </a:ln>
        </p:spPr>
      </p:sp>
      <p:sp>
        <p:nvSpPr>
          <p:cNvPr id="12" name="colt-148"/>
          <p:cNvSpPr txBox="1"/>
          <p:nvPr/>
        </p:nvSpPr>
        <p:spPr>
          <a:xfrm>
            <a:off x="8188757" y="1828800"/>
            <a:ext cx="3454298" cy="4572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3 · Scaling and ways of working</a:t>
            </a:r>
            <a:endParaRPr lang="en-US" sz="1600" dirty="0"/>
          </a:p>
        </p:txBody>
      </p:sp>
      <p:sp>
        <p:nvSpPr>
          <p:cNvPr id="13" name="coll-149"/>
          <p:cNvSpPr txBox="1"/>
          <p:nvPr/>
        </p:nvSpPr>
        <p:spPr>
          <a:xfrm>
            <a:off x="8188757" y="2377440"/>
            <a:ext cx="3454298"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Lighthouse teams and tiger teams</a:t>
            </a:r>
            <a:endParaRPr lang="en-US" sz="1400" dirty="0"/>
          </a:p>
          <a:p>
            <a:pPr marL="342900" indent="-342900">
              <a:spcAft>
                <a:spcPts val="800"/>
              </a:spcAft>
              <a:buSzPct val="100000"/>
              <a:buChar char="•"/>
            </a:pPr>
            <a:r>
              <a:rPr lang="en-US" sz="1400" dirty="0">
                <a:solidFill>
                  <a:schemeClr val="tx2"/>
                </a:solidFill>
              </a:rPr>
              <a:t>An agentic factory</a:t>
            </a:r>
            <a:endParaRPr lang="en-US" sz="1400" dirty="0"/>
          </a:p>
          <a:p>
            <a:pPr marL="342900" indent="-342900">
              <a:spcAft>
                <a:spcPts val="800"/>
              </a:spcAft>
              <a:buSzPct val="100000"/>
              <a:buChar char="•"/>
            </a:pPr>
            <a:r>
              <a:rPr lang="en-US" sz="1400" dirty="0">
                <a:solidFill>
                  <a:schemeClr val="tx2"/>
                </a:solidFill>
              </a:rPr>
              <a:t>Merging and grouping AI agents</a:t>
            </a:r>
            <a:endParaRPr lang="en-US" sz="1400" dirty="0"/>
          </a:p>
          <a:p>
            <a:pPr marL="342900" indent="-342900">
              <a:spcAft>
                <a:spcPts val="800"/>
              </a:spcAft>
              <a:buSzPct val="100000"/>
              <a:buChar char="•"/>
            </a:pPr>
            <a:r>
              <a:rPr lang="en-US" sz="1400" dirty="0">
                <a:solidFill>
                  <a:schemeClr val="tx2"/>
                </a:solidFill>
              </a:rPr>
              <a:t>Crowd memory</a:t>
            </a:r>
            <a:endParaRPr lang="en-US" sz="1400" dirty="0"/>
          </a:p>
          <a:p>
            <a:pPr marL="342900" indent="-342900">
              <a:spcAft>
                <a:spcPts val="800"/>
              </a:spcAft>
              <a:buSzPct val="100000"/>
              <a:buChar char="•"/>
            </a:pPr>
            <a:r>
              <a:rPr lang="en-US" sz="1400" dirty="0">
                <a:solidFill>
                  <a:schemeClr val="tx2"/>
                </a:solidFill>
              </a:rPr>
              <a:t>More merge-request reviewers: with short development cycles, agents generate too much code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Live products, strategic topics, hyped booking agents</a:t>
            </a:r>
            <a:endParaRPr lang="en-US" sz="3000" dirty="0"/>
          </a:p>
        </p:txBody>
      </p:sp>
      <p:sp>
        <p:nvSpPr>
          <p:cNvPr id="3" name="eyebrow-15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THE INVESTORS’ VIEW</a:t>
            </a:r>
            <a:endParaRPr lang="en-US" sz="1100" dirty="0"/>
          </a:p>
        </p:txBody>
      </p:sp>
      <p:sp>
        <p:nvSpPr>
          <p:cNvPr id="5" name="invnum-151"/>
          <p:cNvSpPr txBox="1"/>
          <p:nvPr/>
        </p:nvSpPr>
        <p:spPr>
          <a:xfrm>
            <a:off x="548640" y="1691640"/>
            <a:ext cx="1737360" cy="9144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7%</a:t>
            </a:r>
            <a:endParaRPr lang="en-US" sz="4000" dirty="0"/>
          </a:p>
        </p:txBody>
      </p:sp>
      <p:sp>
        <p:nvSpPr>
          <p:cNvPr id="6" name="invlab-152"/>
          <p:cNvSpPr txBox="1"/>
          <p:nvPr/>
        </p:nvSpPr>
        <p:spPr>
          <a:xfrm>
            <a:off x="2377440" y="1691640"/>
            <a:ext cx="2377440" cy="914400"/>
          </a:xfrm>
          <a:prstGeom prst="rect">
            <a:avLst/>
          </a:prstGeom>
          <a:noFill/>
          <a:ln/>
        </p:spPr>
        <p:txBody>
          <a:bodyPr wrap="square" lIns="0" tIns="0" rIns="0" bIns="0" rtlCol="0" anchor="ctr"/>
          <a:lstStyle/>
          <a:p>
            <a:pPr indent="0" marL="0">
              <a:buNone/>
            </a:pPr>
            <a:r>
              <a:rPr lang="en-US" sz="1400" dirty="0">
                <a:solidFill>
                  <a:schemeClr val="tx2"/>
                </a:solidFill>
              </a:rPr>
              <a:t>of 360 travel entities have invested in startups</a:t>
            </a:r>
            <a:endParaRPr lang="en-US" sz="1400" dirty="0"/>
          </a:p>
        </p:txBody>
      </p:sp>
      <p:sp>
        <p:nvSpPr>
          <p:cNvPr id="7" name="rule-153"/>
          <p:cNvSpPr/>
          <p:nvPr/>
        </p:nvSpPr>
        <p:spPr>
          <a:xfrm>
            <a:off x="548640" y="2880360"/>
            <a:ext cx="4206240" cy="0"/>
          </a:xfrm>
          <a:prstGeom prst="line">
            <a:avLst/>
          </a:prstGeom>
          <a:noFill/>
          <a:ln w="12700">
            <a:solidFill>
              <a:srgbClr val="C9D3E0"/>
            </a:solidFill>
            <a:prstDash val="solid"/>
          </a:ln>
        </p:spPr>
      </p:sp>
      <p:sp>
        <p:nvSpPr>
          <p:cNvPr id="8" name="invnum-154"/>
          <p:cNvSpPr txBox="1"/>
          <p:nvPr/>
        </p:nvSpPr>
        <p:spPr>
          <a:xfrm>
            <a:off x="548640" y="3154680"/>
            <a:ext cx="1737360" cy="9144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5/95</a:t>
            </a:r>
            <a:endParaRPr lang="en-US" sz="4000" dirty="0"/>
          </a:p>
        </p:txBody>
      </p:sp>
      <p:sp>
        <p:nvSpPr>
          <p:cNvPr id="9" name="invlab-155"/>
          <p:cNvSpPr txBox="1"/>
          <p:nvPr/>
        </p:nvSpPr>
        <p:spPr>
          <a:xfrm>
            <a:off x="2377440" y="3154680"/>
            <a:ext cx="2377440" cy="914400"/>
          </a:xfrm>
          <a:prstGeom prst="rect">
            <a:avLst/>
          </a:prstGeom>
          <a:noFill/>
          <a:ln/>
        </p:spPr>
        <p:txBody>
          <a:bodyPr wrap="square" lIns="0" tIns="0" rIns="0" bIns="0" rtlCol="0" anchor="ctr"/>
          <a:lstStyle/>
          <a:p>
            <a:pPr indent="0" marL="0">
              <a:buNone/>
            </a:pPr>
            <a:r>
              <a:rPr lang="en-US" sz="1400" dirty="0">
                <a:solidFill>
                  <a:schemeClr val="tx2"/>
                </a:solidFill>
              </a:rPr>
              <a:t>ratio: 5% startups that unlock something new, 95% that bring revenue</a:t>
            </a:r>
            <a:endParaRPr lang="en-US" sz="1400" dirty="0"/>
          </a:p>
        </p:txBody>
      </p:sp>
      <p:sp>
        <p:nvSpPr>
          <p:cNvPr id="10" name="rule-156"/>
          <p:cNvSpPr/>
          <p:nvPr/>
        </p:nvSpPr>
        <p:spPr>
          <a:xfrm>
            <a:off x="548640" y="4343400"/>
            <a:ext cx="4206240" cy="0"/>
          </a:xfrm>
          <a:prstGeom prst="line">
            <a:avLst/>
          </a:prstGeom>
          <a:noFill/>
          <a:ln w="12700">
            <a:solidFill>
              <a:srgbClr val="C9D3E0"/>
            </a:solidFill>
            <a:prstDash val="solid"/>
          </a:ln>
        </p:spPr>
      </p:sp>
      <p:sp>
        <p:nvSpPr>
          <p:cNvPr id="11" name="invnum-157"/>
          <p:cNvSpPr txBox="1"/>
          <p:nvPr/>
        </p:nvSpPr>
        <p:spPr>
          <a:xfrm>
            <a:off x="548640" y="4617720"/>
            <a:ext cx="1737360" cy="9144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1bn</a:t>
            </a:r>
            <a:endParaRPr lang="en-US" sz="4000" dirty="0"/>
          </a:p>
        </p:txBody>
      </p:sp>
      <p:sp>
        <p:nvSpPr>
          <p:cNvPr id="12" name="invlab-158"/>
          <p:cNvSpPr txBox="1"/>
          <p:nvPr/>
        </p:nvSpPr>
        <p:spPr>
          <a:xfrm>
            <a:off x="2377440" y="4617720"/>
            <a:ext cx="2377440" cy="914400"/>
          </a:xfrm>
          <a:prstGeom prst="rect">
            <a:avLst/>
          </a:prstGeom>
          <a:noFill/>
          <a:ln/>
        </p:spPr>
        <p:txBody>
          <a:bodyPr wrap="square" lIns="0" tIns="0" rIns="0" bIns="0" rtlCol="0" anchor="ctr"/>
          <a:lstStyle/>
          <a:p>
            <a:pPr indent="0" marL="0">
              <a:buNone/>
            </a:pPr>
            <a:r>
              <a:rPr lang="en-US" sz="1400" dirty="0">
                <a:solidFill>
                  <a:schemeClr val="tx2"/>
                </a:solidFill>
              </a:rPr>
              <a:t>travel-related transactions on the Instinct app</a:t>
            </a:r>
            <a:endParaRPr lang="en-US" sz="1400" dirty="0"/>
          </a:p>
        </p:txBody>
      </p:sp>
      <p:sp>
        <p:nvSpPr>
          <p:cNvPr id="13" name="inv-pts"/>
          <p:cNvSpPr txBox="1"/>
          <p:nvPr/>
        </p:nvSpPr>
        <p:spPr>
          <a:xfrm>
            <a:off x="5303520" y="1691640"/>
            <a:ext cx="6339535"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They only invest in products that are already live</a:t>
            </a:r>
            <a:endParaRPr lang="en-US" sz="1600" dirty="0"/>
          </a:p>
          <a:p>
            <a:pPr marL="342900" indent="-342900">
              <a:spcAft>
                <a:spcPts val="1000"/>
              </a:spcAft>
              <a:buSzPct val="100000"/>
              <a:buChar char="•"/>
            </a:pPr>
            <a:r>
              <a:rPr lang="en-US" sz="1600" dirty="0">
                <a:solidFill>
                  <a:schemeClr val="tx1"/>
                </a:solidFill>
              </a:rPr>
              <a:t>Cleantech is the top investment topic</a:t>
            </a:r>
            <a:endParaRPr lang="en-US" sz="1600" dirty="0"/>
          </a:p>
          <a:p>
            <a:pPr marL="342900" indent="-342900">
              <a:spcAft>
                <a:spcPts val="1000"/>
              </a:spcAft>
              <a:buSzPct val="100000"/>
              <a:buChar char="•"/>
            </a:pPr>
            <a:r>
              <a:rPr lang="en-US" sz="1600" dirty="0">
                <a:solidFill>
                  <a:schemeClr val="tx1"/>
                </a:solidFill>
              </a:rPr>
              <a:t>There are many short-term opportunities, but they invest only in strategic topics</a:t>
            </a:r>
            <a:endParaRPr lang="en-US" sz="1600" dirty="0"/>
          </a:p>
          <a:p>
            <a:pPr marL="342900" indent="-342900">
              <a:spcAft>
                <a:spcPts val="1000"/>
              </a:spcAft>
              <a:buSzPct val="100000"/>
              <a:buChar char="•"/>
            </a:pPr>
            <a:r>
              <a:rPr lang="en-US" sz="1600" dirty="0">
                <a:solidFill>
                  <a:schemeClr val="tx1"/>
                </a:solidFill>
              </a:rPr>
              <a:t>Airlines are interested in companies like Volantio (exhibiting at booth 1‑104B)</a:t>
            </a:r>
            <a:endParaRPr lang="en-US" sz="1600" dirty="0"/>
          </a:p>
        </p:txBody>
      </p:sp>
      <p:sp>
        <p:nvSpPr>
          <p:cNvPr id="14" name="card-159"/>
          <p:cNvSpPr/>
          <p:nvPr/>
        </p:nvSpPr>
        <p:spPr>
          <a:xfrm>
            <a:off x="5303520" y="4480560"/>
            <a:ext cx="6339535" cy="1600200"/>
          </a:xfrm>
          <a:prstGeom prst="roundRect">
            <a:avLst>
              <a:gd name="adj" fmla="val 6857"/>
            </a:avLst>
          </a:prstGeom>
          <a:solidFill>
            <a:schemeClr val="tx1"/>
          </a:solidFill>
          <a:ln w="12700">
            <a:solidFill>
              <a:schemeClr val="tx1"/>
            </a:solidFill>
            <a:prstDash val="solid"/>
          </a:ln>
        </p:spPr>
      </p:sp>
      <p:sp>
        <p:nvSpPr>
          <p:cNvPr id="15" name="inv-hype"/>
          <p:cNvSpPr txBox="1"/>
          <p:nvPr/>
        </p:nvSpPr>
        <p:spPr>
          <a:xfrm>
            <a:off x="5577840" y="4617720"/>
            <a:ext cx="5790895" cy="1325880"/>
          </a:xfrm>
          <a:prstGeom prst="rect">
            <a:avLst/>
          </a:prstGeom>
          <a:noFill/>
          <a:ln/>
        </p:spPr>
        <p:txBody>
          <a:bodyPr wrap="square" lIns="0" tIns="0" rIns="0" bIns="0" rtlCol="0" anchor="t"/>
          <a:lstStyle/>
          <a:p>
            <a:pPr indent="0" marL="0">
              <a:spcAft>
                <a:spcPts val="800"/>
              </a:spcAft>
              <a:buNone/>
            </a:pPr>
            <a:r>
              <a:rPr lang="en-US" sz="1100" b="1" spc="200" kern="0" dirty="0">
                <a:solidFill>
                  <a:schemeClr val="accent6"/>
                </a:solidFill>
              </a:rPr>
              <a:t>MOST HYPED</a:t>
            </a:r>
            <a:endParaRPr lang="en-US" sz="1100" dirty="0"/>
          </a:p>
          <a:p>
            <a:pPr indent="0" marL="0">
              <a:buNone/>
            </a:pPr>
            <a:r>
              <a:rPr lang="en-US" sz="1700" dirty="0">
                <a:solidFill>
                  <a:schemeClr val="bg1"/>
                </a:solidFill>
              </a:rPr>
              <a:t>Booking agents. A flight is cancelled, the passenger calls or chats, and an AI agent rebooks them.</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160"/>
          <p:cNvSpPr txBox="1"/>
          <p:nvPr/>
        </p:nvSpPr>
        <p:spPr>
          <a:xfrm>
            <a:off x="548640" y="347472"/>
            <a:ext cx="11094415"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PUTTING IT TOGETHER</a:t>
            </a:r>
            <a:endParaRPr lang="en-US" sz="1100" dirty="0"/>
          </a:p>
        </p:txBody>
      </p:sp>
      <p:sp>
        <p:nvSpPr>
          <p:cNvPr id="3" name="pat-title"/>
          <p:cNvSpPr txBox="1"/>
          <p:nvPr/>
        </p:nvSpPr>
        <p:spPr>
          <a:xfrm>
            <a:off x="548640" y="658368"/>
            <a:ext cx="11094415" cy="73152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Four patterns across the floor and the stages</a:t>
            </a:r>
            <a:endParaRPr lang="en-US" sz="3000" dirty="0"/>
          </a:p>
        </p:txBody>
      </p:sp>
      <p:sp>
        <p:nvSpPr>
          <p:cNvPr id="4" name="rule-161"/>
          <p:cNvSpPr/>
          <p:nvPr/>
        </p:nvSpPr>
        <p:spPr>
          <a:xfrm>
            <a:off x="548640" y="1737360"/>
            <a:ext cx="5272888" cy="0"/>
          </a:xfrm>
          <a:prstGeom prst="line">
            <a:avLst/>
          </a:prstGeom>
          <a:noFill/>
          <a:ln w="19050">
            <a:solidFill>
              <a:schemeClr val="accent1"/>
            </a:solidFill>
            <a:prstDash val="solid"/>
          </a:ln>
        </p:spPr>
      </p:sp>
      <p:sp>
        <p:nvSpPr>
          <p:cNvPr id="5" name="pat-162"/>
          <p:cNvSpPr txBox="1"/>
          <p:nvPr/>
        </p:nvSpPr>
        <p:spPr>
          <a:xfrm>
            <a:off x="548640" y="1874520"/>
            <a:ext cx="5272888" cy="17373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AI agents are everywhere</a:t>
            </a:r>
            <a:endParaRPr lang="en-US" sz="2000" dirty="0"/>
          </a:p>
          <a:p>
            <a:pPr indent="0" marL="0">
              <a:buNone/>
            </a:pPr>
            <a:r>
              <a:rPr lang="en-US" sz="1500" dirty="0">
                <a:solidFill>
                  <a:schemeClr val="accent6"/>
                </a:solidFill>
              </a:rPr>
              <a:t>36 exhibitors in AI customer service alone, plus agent claims in pricing, ops and payments. Investors call rebooking agents the most hyped product.</a:t>
            </a:r>
            <a:endParaRPr lang="en-US" sz="2000" dirty="0"/>
          </a:p>
        </p:txBody>
      </p:sp>
      <p:sp>
        <p:nvSpPr>
          <p:cNvPr id="6" name="rule-163"/>
          <p:cNvSpPr/>
          <p:nvPr/>
        </p:nvSpPr>
        <p:spPr>
          <a:xfrm>
            <a:off x="6370168" y="1737360"/>
            <a:ext cx="5272888" cy="0"/>
          </a:xfrm>
          <a:prstGeom prst="line">
            <a:avLst/>
          </a:prstGeom>
          <a:noFill/>
          <a:ln w="19050">
            <a:solidFill>
              <a:schemeClr val="accent1"/>
            </a:solidFill>
            <a:prstDash val="solid"/>
          </a:ln>
        </p:spPr>
      </p:sp>
      <p:sp>
        <p:nvSpPr>
          <p:cNvPr id="7" name="pat-164"/>
          <p:cNvSpPr txBox="1"/>
          <p:nvPr/>
        </p:nvSpPr>
        <p:spPr>
          <a:xfrm>
            <a:off x="6370168" y="1874520"/>
            <a:ext cx="5272888" cy="17373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Disruption is a market</a:t>
            </a:r>
            <a:endParaRPr lang="en-US" sz="2000" dirty="0"/>
          </a:p>
          <a:p>
            <a:pPr indent="0" marL="0">
              <a:buNone/>
            </a:pPr>
            <a:r>
              <a:rPr lang="en-US" sz="1500" dirty="0">
                <a:solidFill>
                  <a:schemeClr val="accent6"/>
                </a:solidFill>
              </a:rPr>
              <a:t>More than 30 exhibitors sell for the day a flight is cancelled: messaging, hotels, payouts, claims and recovery tools.</a:t>
            </a:r>
            <a:endParaRPr lang="en-US" sz="2000" dirty="0"/>
          </a:p>
        </p:txBody>
      </p:sp>
      <p:sp>
        <p:nvSpPr>
          <p:cNvPr id="8" name="rule-165"/>
          <p:cNvSpPr/>
          <p:nvPr/>
        </p:nvSpPr>
        <p:spPr>
          <a:xfrm>
            <a:off x="548640" y="3886200"/>
            <a:ext cx="5272888" cy="0"/>
          </a:xfrm>
          <a:prstGeom prst="line">
            <a:avLst/>
          </a:prstGeom>
          <a:noFill/>
          <a:ln w="19050">
            <a:solidFill>
              <a:schemeClr val="accent1"/>
            </a:solidFill>
            <a:prstDash val="solid"/>
          </a:ln>
        </p:spPr>
      </p:sp>
      <p:sp>
        <p:nvSpPr>
          <p:cNvPr id="9" name="pat-166"/>
          <p:cNvSpPr txBox="1"/>
          <p:nvPr/>
        </p:nvSpPr>
        <p:spPr>
          <a:xfrm>
            <a:off x="548640" y="4023360"/>
            <a:ext cx="5272888" cy="17373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Foundations before agents</a:t>
            </a:r>
            <a:endParaRPr lang="en-US" sz="2000" dirty="0"/>
          </a:p>
          <a:p>
            <a:pPr indent="0" marL="0">
              <a:buNone/>
            </a:pPr>
            <a:r>
              <a:rPr lang="en-US" sz="1500" dirty="0">
                <a:solidFill>
                  <a:schemeClr val="accent6"/>
                </a:solidFill>
              </a:rPr>
              <a:t>Heads of data talk about semantic layers, knowledge graphs and agent governance more than about models.</a:t>
            </a:r>
            <a:endParaRPr lang="en-US" sz="2000" dirty="0"/>
          </a:p>
        </p:txBody>
      </p:sp>
      <p:sp>
        <p:nvSpPr>
          <p:cNvPr id="10" name="rule-167"/>
          <p:cNvSpPr/>
          <p:nvPr/>
        </p:nvSpPr>
        <p:spPr>
          <a:xfrm>
            <a:off x="6370168" y="3886200"/>
            <a:ext cx="5272888" cy="0"/>
          </a:xfrm>
          <a:prstGeom prst="line">
            <a:avLst/>
          </a:prstGeom>
          <a:noFill/>
          <a:ln w="19050">
            <a:solidFill>
              <a:schemeClr val="accent1"/>
            </a:solidFill>
            <a:prstDash val="solid"/>
          </a:ln>
        </p:spPr>
      </p:sp>
      <p:sp>
        <p:nvSpPr>
          <p:cNvPr id="11" name="pat-168"/>
          <p:cNvSpPr txBox="1"/>
          <p:nvPr/>
        </p:nvSpPr>
        <p:spPr>
          <a:xfrm>
            <a:off x="6370168" y="4023360"/>
            <a:ext cx="5272888" cy="1737360"/>
          </a:xfrm>
          <a:prstGeom prst="rect">
            <a:avLst/>
          </a:prstGeom>
          <a:noFill/>
          <a:ln/>
        </p:spPr>
        <p:txBody>
          <a:bodyPr wrap="square" lIns="0" tIns="0" rIns="0" bIns="0" rtlCol="0" anchor="t"/>
          <a:lstStyle/>
          <a:p>
            <a:pPr indent="0" marL="0">
              <a:spcAft>
                <a:spcPts val="600"/>
              </a:spcAft>
              <a:buNone/>
            </a:pPr>
            <a:r>
              <a:rPr lang="en-US" sz="2000" b="1" dirty="0">
                <a:solidFill>
                  <a:schemeClr val="bg1"/>
                </a:solidFill>
                <a:latin typeface="Arial" pitchFamily="34" charset="0"/>
                <a:ea typeface="Arial" pitchFamily="34" charset="-122"/>
                <a:cs typeface="Arial" pitchFamily="34" charset="-120"/>
              </a:rPr>
              <a:t>Small partners can move fast</a:t>
            </a:r>
            <a:endParaRPr lang="en-US" sz="2000" dirty="0"/>
          </a:p>
          <a:p>
            <a:pPr indent="0" marL="0">
              <a:buNone/>
            </a:pPr>
            <a:r>
              <a:rPr lang="en-US" sz="1500" dirty="0">
                <a:solidFill>
                  <a:schemeClr val="accent6"/>
                </a:solidFill>
              </a:rPr>
              <a:t>Marabu shipped 3 projects in 6 months with 2 IT people. 47 startups were on stage, and investors back only live products.</a:t>
            </a:r>
            <a:endParaRPr lang="en-US" sz="2000" dirty="0"/>
          </a:p>
        </p:txBody>
      </p:sp>
      <p:sp>
        <p:nvSpPr>
          <p:cNvPr id="13" name="Text 0"/>
          <p:cNvSpPr/>
          <p:nvPr>
            <p:ph idx="100" type="title" hasCustomPrompt="1"/>
          </p:nvPr>
        </p:nvSpPr>
        <p:spPr>
          <a:xfrm>
            <a:off x="548640" y="2011680"/>
            <a:ext cx="11094415" cy="1737360"/>
          </a:xfrm>
          <a:prstGeom prst="rect">
            <a:avLst/>
          </a:prstGeom>
          <a:noFill/>
          <a:ln/>
        </p:spPr>
        <p:txBody>
          <a:bodyPr wrap="square" lIns="0" tIns="0" rIns="0" bIns="0" rtlCol="0" anchor="t"/>
          <a:lstStyle/>
          <a:p>
            <a:pPr algn="l" indent="0" marL="0">
              <a:buNone/>
            </a:pPr>
            <a:endParaRPr lang="en-US" sz="4800" dirty="0"/>
          </a:p>
        </p:txBody>
      </p:sp>
    </p:spTree>
  </p:cSld>
  <p:clrMapOvr>
    <a:masterClrMapping/>
  </p:clrMapOvr>
</p:sld>
</file>

<file path=ppt/theme/theme1.xml><?xml version="1.0" encoding="utf-8"?>
<a:theme xmlns:a="http://schemas.openxmlformats.org/drawingml/2006/main" name="WAF Review">
  <a:themeElements>
    <a:clrScheme name="WAF Review">
      <a:dk1>
        <a:srgbClr val="13233D"/>
      </a:dk1>
      <a:lt1>
        <a:srgbClr val="FFFFFF"/>
      </a:lt1>
      <a:dk2>
        <a:srgbClr val="44505F"/>
      </a:dk2>
      <a:lt2>
        <a:srgbClr val="E8EDF2"/>
      </a:lt2>
      <a:accent1>
        <a:srgbClr val="D9622B"/>
      </a:accent1>
      <a:accent2>
        <a:srgbClr val="B4491A"/>
      </a:accent2>
      <a:accent3>
        <a:srgbClr val="2E6DA8"/>
      </a:accent3>
      <a:accent4>
        <a:srgbClr val="3D7F72"/>
      </a:accent4>
      <a:accent5>
        <a:srgbClr val="6A7482"/>
      </a:accent5>
      <a:accent6>
        <a:srgbClr val="C9D3E0"/>
      </a:accent6>
      <a:hlink>
        <a:srgbClr val="2E6DA8"/>
      </a:hlink>
      <a:folHlink>
        <a:srgbClr val="6A7482"/>
      </a:folHlink>
    </a:clrScheme>
    <a:fontScheme name="WAF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 2026 Exhibitors &amp; Takeaways</dc:title>
  <dc:subject>PptxGenJS Presentation</dc:subject>
  <dc:creator>PptxGenJS</dc:creator>
  <cp:lastModifiedBy>PptxGenJS</cp:lastModifiedBy>
  <cp:revision>1</cp:revision>
  <dcterms:created xsi:type="dcterms:W3CDTF">2026-10-21T15:44:08Z</dcterms:created>
  <dcterms:modified xsi:type="dcterms:W3CDTF">2026-10-21T15:44:08Z</dcterms:modified>
</cp:coreProperties>
</file>